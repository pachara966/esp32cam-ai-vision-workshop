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63854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ESP32-CAM AI Vision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8FF"/>
                </a:solidFill>
              </a:rPr>
              <a:t>From IoT Camera to Intelligent Image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697480"/>
            <a:ext cx="5788152" cy="45720"/>
          </a:xfrm>
          <a:prstGeom prst="rect">
            <a:avLst/>
          </a:prstGeom>
          <a:solidFill>
            <a:srgbClr val="88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0E4F5"/>
                </a:solidFill>
              </a:rPr>
              <a:t>การพัฒนากล้องอัจฉริยะด้วย ESP32-CAM และปัญญาประดิษฐ์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0E4F5"/>
                </a:solidFill>
              </a:rPr>
              <a:t>สำหรับการวิเคราะห์ภาพ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A0B8"/>
                </a:solidFill>
              </a:rPr>
              <a:t>มหาวิทยาลัยเทคโนโลยีราชมงคลธัญบุรี  (RMUTT)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A0B8"/>
                </a:solidFill>
              </a:rPr>
              <a:t>[วันที่ / Date]     •     #ESP32CAM_AI_RMUTT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Workshop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ในวันนี้เราจะสร้างอะไร?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C8FF"/>
                </a:solidFill>
              </a:rPr>
              <a:t>เราจะสร้างระบบกล้อง AI ที่สามารถ...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D0E4F5"/>
                </a:solidFill>
              </a:rPr>
              <a:t>  วิเคราะห์ภาพ  •  นับวัตถุ  •  จำแนกประเภท  •  ตอบคำถาม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1247120" cy="3474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78892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C8FF"/>
                </a:solidFill>
              </a:rPr>
              <a:t>📷  ESP32-CAM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88A0B8"/>
                </a:solidFill>
              </a:rPr>
              <a:t>        │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88A0B8"/>
                </a:solidFill>
              </a:rPr>
              <a:t>        ▼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D0E4F5"/>
                </a:solidFill>
              </a:rPr>
              <a:t>📶  Wi-Fi  →  /capture endpoint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88A0B8"/>
                </a:solidFill>
              </a:rPr>
              <a:t>        │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88A0B8"/>
                </a:solidFill>
              </a:rPr>
              <a:t>        ▼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D0E4F5"/>
                </a:solidFill>
              </a:rPr>
              <a:t>⚙️   FastAPI Backend  (Python)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88A0B8"/>
                </a:solidFill>
              </a:rPr>
              <a:t>        │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88A0B8"/>
                </a:solidFill>
              </a:rPr>
              <a:t>        ▼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FF7043"/>
                </a:solidFill>
              </a:rPr>
              <a:t>🤖  Vision AI  (Gemini / Claude)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88A0B8"/>
                </a:solidFill>
              </a:rPr>
              <a:t>        │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88A0B8"/>
                </a:solidFill>
              </a:rPr>
              <a:t>        ▼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4CD964"/>
                </a:solidFill>
              </a:rPr>
              <a:t>📊  Web UI  —  ผลการวิเคราะห์ภาพ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เมื่อสิ้นสุด Workshop นักเรียนจะสามารถ: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1.  ติดตั้งและใช้งาน ESP32-CAM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     Configure &amp; Flash Firmware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2.  อธิบาย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     Explain REST API &amp; 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54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3.  รัน Python Backend ด้วย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     Run FastAPI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4.  ใช้ Vision AI API วิเคราะห์ภาพ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513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     Use Gemini / Claude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537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5.  เขียน Prompt ที่เจาะจง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011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     Design Effective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6.  สร้าง AI Vision Mini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509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     Build a Real AI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Workshop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ตารางเวลา 1 วัน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08:30 – 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173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ลงทะเบียน / รับอุปกรณ์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64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09:00 – 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7647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Lecture: AI + IoT + 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122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09:30 – 10:30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1226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Lab 01 — ESP32-CAM Camera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59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10:30 – 10:45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5973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พัก 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07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10:45 – 11:45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80720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Lab 02 — REST API &amp;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11:45 – 12:45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5467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พักกลางวัน 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0215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12:45 – 13:00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502151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Lecture: Prompt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496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13:00 – 14:15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84962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Lab 03 — AI Vision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970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14:15 – 14:30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19709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พัก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445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14:30 – 15:45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5445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Lab 04 — Mini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92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</a:rPr>
              <a:t>15:45 – 16:00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8920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นำเสนอผลงาน / มอบใบประกาศ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IoT &amp; ESP32-CAM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</a:rPr>
              <a:t>อินเทอร์เน็ตของสรรพสิ่ง และกล้อง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0B8"/>
                </a:solidFill>
              </a:rPr>
              <a:t>Section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IoT?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Internet of Things — อินเทอร์เน็ตของสรรพสิ่ง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FF"/>
                </a:solidFill>
              </a:rPr>
              <a:t>IoT = อุปกรณ์ที่เชื่อมต่ออินเทอร์เน็ตเพื่อส่ง/รับข้อมูล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47120" cy="10058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04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7043"/>
                </a:solidFill>
              </a:rPr>
              <a:t>🏠  Smart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072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หลอดไฟ, กล้องวงจรปิด, ล็อคประตู ที่ควบคุมผ่านมือถือ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02152"/>
            <a:ext cx="11247120" cy="10058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753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7043"/>
                </a:solidFill>
              </a:rPr>
              <a:t>🏭  Smart 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เซนเซอร์ตรวจจับอุณหภูมิ, แรงสั่นสะเทือน, แจ้งเตือนอัตโนมัติ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72584"/>
            <a:ext cx="11247120" cy="10058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457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7043"/>
                </a:solidFill>
              </a:rPr>
              <a:t>🌱  Smart Agriculture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48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กล้องถ่ายภาพต้นไม้ → AI วิเคราะห์โรค → แจ้งเตือนเกษตรกร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ESP32-CAM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โมดูลกล้อง AI Thinker — หัวใจของ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858000" cy="4846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ESP32 Dual-Core 240 MHz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957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520 KB SRAM  +  4 MB PSRAM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540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4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1246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712463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OV2640  2MP  (สูงสุด 1600×1200)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7083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Wi-Fi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37083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802.11 b/g/n  2.4 GHz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19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02919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~150 – 250 บาท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A0B8"/>
                </a:solidFill>
              </a:rPr>
              <a:t>AI Thinker
ESP32-CAM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A0B8"/>
                </a:solidFill>
              </a:rPr>
              <a:t>[ รูป / Photo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ESP32-CAM Hardware Tour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รู้จักส่วนประกอบสำคัญ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64207"/>
            <a:ext cx="109728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  ┌─────────────────────────────┐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      OV2640 Camera        │  ← ถอด-เสียบได้ (อย่าดึงแรง)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┌───────────────────────┐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│    ESP32-WROVER SoC   │  │  ← CPU + Wi-Fi + RAM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└───────────────────────┘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GPIO0 ── ต้องต่อ GND ขณะ flash │  ← ⚠️ สำคัญมาก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5V / GND ── จ่ายไฟ  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GPIO1/3  ── UART (Serial)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└─────────────────────────────┘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 │  USB (ผ่าน MB Board)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 ▼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ESP32-CAM-MB  (CH340 USB-to-Serial)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Wi-Fi &amp; Networking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เครือข่ายในห้อง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749808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SSID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7190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ชื่อ Wi-Fi ที่มองเห็น  → ใส่ใน secrets.h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2888"/>
            <a:ext cx="11247120" cy="749808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รหัส Wi-Fi             → ใส่ใน secrets.h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IP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93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เช่น 192.168.1.50 — ที่อยู่ของ ESP32-CAM ในเครือข่าย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06824"/>
            <a:ext cx="11247120" cy="749808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799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37997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Web UI: port 80  •  Stream: port 81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93792"/>
            <a:ext cx="11247120" cy="749808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669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⚠️  2.4 GHz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26694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ESP32 รองรับแค่ 2.4 GHz  —  ไม่รองรับ 5 GHz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REST API &amp;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</a:rPr>
              <a:t>การสื่อสารระหว่างอุปกรณ์กับ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0B8"/>
                </a:solidFill>
              </a:rPr>
              <a:t>Section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REST API?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API คืออะไร? — เปรียบเหมือนร้านอาหาร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760720" cy="4846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🍽️  ร้านอาหาร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76072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ลูกค้า = Client (เบราว์เซอร์)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พนักงาน = API (ตัวกลาง)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ครัว = Server (Backend)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เมนู = Endpoints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ออเดอร์ = Request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อาหาร =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00200"/>
            <a:ext cx="5760720" cy="4846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💻 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03120"/>
            <a:ext cx="576072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Browser = Client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API = Interface Layer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FastAPI = Server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GET /prompts, POST /analyze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HTTP Request + JSON Body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0E4F5"/>
                </a:solidFill>
              </a:rPr>
              <a:t>JSON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HTTP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วิธีส่งข้อมูลผ่าน HTTP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7607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76072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0E4F5"/>
                </a:solidFill>
              </a:rPr>
              <a:t>ขอดึงข้อมูล (Read)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394960" cy="13716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5120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GET /prompts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GET 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ไม่มี body / URL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600200"/>
            <a:ext cx="57607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600200"/>
            <a:ext cx="576072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2763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31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0E4F5"/>
                </a:solidFill>
              </a:rPr>
              <a:t>ส่งข้อมูลไป (Write/Send)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926080"/>
            <a:ext cx="5394960" cy="13716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035808"/>
            <a:ext cx="5120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POST /analyze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{ cam_url, prompt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</a:rPr>
              <a:t>ไม่มี body / URL 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34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ส่ง body เป็น 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JSON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รูปแบบข้อมูลที่ใช้สื่อสารระหว่าง Backend กับ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C8FF"/>
                </a:solidFill>
              </a:rPr>
              <a:t>JSON = JavaScript Object Notation — ข้อมูลในรูปแบบ key: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6858000" cy="42976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58568"/>
            <a:ext cx="658368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{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"provider": "gemini",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"filename":  "photo.jpg",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"image_size_bytes": 12480,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"result": "ภาพแสดงโต๊ะทำงานที่มีโน้ตบุ๊ค 1 เครื่อง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     กาแฟ 1 แก้ว และหนังสือ 3 เล่ม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     โต๊ะมีความเป็นระเบียบระดับดี"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4884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C8FF"/>
                </a:solidFill>
              </a:rPr>
              <a:t>Key Points: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• ใช้  { }  สำหรับ object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• ใช้  [ ]  สำหรับ list/array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• Key ใส่ใน  " "  เสมอ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• Value อาจเป็น string, number,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  boolean, list หรือ object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• ทุก API ใน Workshop นี้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  ตอบกลับเป็น 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FastAPI Backend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สถาปัตยกรรมของ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9728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Browser / Web UI  (localhost:8000)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POST /analyze   { cam_url, prompt }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▼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┌─────────────────────────────────────┐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         FastAPI (main.py) 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 GET /       → index.html  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 GET /prompts → preset list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 POST /analyze → fetch + AI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 POST /analyze-upload → AI 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 GET /health  → status     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└──────────────┬──────────────────────┘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         │          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┌────────┴────────┐  ┌──────┴──────┐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ESP32-CAM       │  │  Vision AI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/capture (JPEG) │  │  Provider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http://IP/...   │  │  mock/gemini│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└──────────────────┘  │  /claude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                      └─────────────┘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AI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7043"/>
                </a:solidFill>
              </a:rPr>
              <a:t>ปัญญาประดิษฐ์และการวิเคราะห์ภาพ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0B8"/>
                </a:solidFill>
              </a:rPr>
              <a:t>Section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ปัญญาประดิษฐ์คืออะไร?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57600" cy="4846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solidFill>
            <a:srgbClr val="88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Rule-Based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กฎตายตัว
IF วัตถุกลม AND สีแดง → THEN แอปเปิ้ล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3657600" cy="4846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365760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Machine
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เรียนรู้จากตัวอย่าง
1,000 รูป → เรียนรู้เอง → ทำนาย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600200"/>
            <a:ext cx="3657600" cy="4846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600200"/>
            <a:ext cx="3657600" cy="5029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สร้างคำตอบใหม่
รับรูป + prompt → ตอบภาษาธรรมชาติ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24359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AI ที่สร้างคำตอบใหม่จากข้อมูลที่ได้รับ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960120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</a:rPr>
              <a:t>📝  Text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เขียนเรียงความ, สรุปข้อมูล, ตอบคำถาม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07208"/>
            <a:ext cx="11247120" cy="960120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986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</a:rPr>
              <a:t>🖼️  Image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98648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สร้างภาพจากคำอธิบาย (Midjourney, DALL-E)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22776"/>
            <a:ext cx="11247120" cy="960120"/>
          </a:xfrm>
          <a:prstGeom prst="rect">
            <a:avLst/>
          </a:prstGeom>
          <a:solidFill>
            <a:srgbClr val="1A2F1A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14215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CD964"/>
                </a:solidFill>
              </a:rPr>
              <a:t>👁️  Image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014215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อธิบาย, จำแนก, นับ สิ่งที่อยู่ในภาพ  ← Workshop นี้!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38344"/>
            <a:ext cx="11247120" cy="960120"/>
          </a:xfrm>
          <a:prstGeom prst="rect">
            <a:avLst/>
          </a:prstGeom>
          <a:solidFill>
            <a:srgbClr val="0A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29783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</a:rPr>
              <a:t>💻  Code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9783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เขียนโปรแกรมจาก requirements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Vision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AI ที่ 'มองเห็น' และเข้าใจภาพ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8FF"/>
                </a:solidFill>
              </a:rPr>
              <a:t>Vision AI รับภาพ + prompt แล้วตอบกลับเป็นข้อความ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🔍 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ระบุวัตถุในภาพ: แมว, โต๊ะ, ขวด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176272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49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🔢 Counting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นับจำนวน: มีหนังสือ 3 เล่ม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🎨 Color / Scene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วิเคราะห์สีและบรรยากาศ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438144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📊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91363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จำแนกประเภท: ขยะรีไซเคิล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0016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💚 Health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755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ประเมินสุขภาพ: ต้นไม้มีใบเหลือง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700016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773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📝 Text Reading (OCR)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1755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</a:rPr>
              <a:t>อ่านตัวหนังสือในภาพ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Gemini Vision (Google)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Vision AI โดย Google — แนะนำสำหรับ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83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gemini-2.5-flash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Google AI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API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546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ฟรีสำหรับนักเรียน — aistudio.google.com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Free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8404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1,500 requests/วัน  (เพียงพอสำหรับ Workshop)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262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google-genai 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12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VISION_PROVIDER=gemini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</a:rPr>
              <a:t>✅  แนะนำให้เริ่มด้วย Gemini เพราะ free tier สูงที่สุด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Claude Vision (Anthropic)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Vision AI โดย Anthropic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83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claude-haiku-4-5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Anthropic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API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546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console.anthropic.com  (ต้องใส่บัตรเครดิต)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8404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$1.00 / M input tokens  •  $5.00 / M output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262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anthropic 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12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VISION_PROVIDER=claude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💡  ใช้ได้เช่นกัน — เปลี่ยนแค่ VISION_PROVIDER=claude ใน .env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Prompt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วิธีเขียนคำสั่งให้ AI ตอบได้ตรงใจ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658368"/>
          </a:xfrm>
          <a:prstGeom prst="rect">
            <a:avLst/>
          </a:prstGeom>
          <a:solidFill>
            <a:srgbClr val="00284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[Role]  +  [Task]  +  [Format]  +  [Language]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47120" cy="9326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4780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</a:rPr>
              <a:t>"คุณคือผู้เชี่ยวชาญด้านสิ่งแวดล้อม"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780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บอก AI ว่าเป็นใคร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02152"/>
            <a:ext cx="11247120" cy="9326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570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5570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</a:rPr>
              <a:t>"วิเคราะห์ขยะในภาพและจำแนกประเภท"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5570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สิ่งที่ต้องทำ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81144"/>
            <a:ext cx="11247120" cy="9326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360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6360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</a:rPr>
              <a:t>"ตอบเป็น bullet point"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63600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รูปแบบคำตอบ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0136"/>
            <a:ext cx="11247120" cy="9326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149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7149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</a:rPr>
              <a:t>"ภาษาไทย"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71499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</a:rPr>
              <a:t>ภาษาที่ใช้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AI Vision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ข้อมูลไหลอย่างไร จากกล้องถึง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9728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  👤 นักเรียน เปิด Web UI (localhost:8000)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กรอก cam_url + prompt → กด "Capture &amp; Analyze"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▼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⚙️  FastAPI Backend  (main.py)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├─── GET http://&lt;esp32-ip&gt;/capture  ──► 📷 ESP32-CAM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       (JPEG image, ~10–50 KB)         └── ถ่ายภาพ → ส่งกลับ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├─── image_bytes + prompt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       ▼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  Vision Provider  (VISION_PROVIDER env var)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       ├── mock     → canned response (ไม่ต้อง key)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       ├── gemini   → Google AI API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         └── claude   → Anthropic API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 └── JSON Response  ──► 🌐 Web UI แสดงผล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7043"/>
                </a:solidFill>
              </a:rPr>
              <a:t>Lab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ESP32-CAM Camera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46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E4F5"/>
                </a:solidFill>
              </a:rPr>
              <a:t>ติดตั้งกล้อง • Flash Firmware • ดู Live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0B8"/>
                </a:solidFill>
              </a:rPr>
              <a:t>เวลา: ~60 นาที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Lab 01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สิ่งที่เราจะทำใน Lab นี้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ต่อสาย ESP32-CAM กับ ESP32-CAM-MB board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ติดตั้ง Arduino IDE และ ESP32 Board Package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แก้ไข secrets.h ใส่ Wi-Fi SSID และ Password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Flash firmware เข้า ESP32-CAM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ทดสอบ Live Stream และ /capture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964"/>
                </a:solidFill>
              </a:rPr>
              <a:t>🎯  เป้าหมาย: กล้อง online และ /capture ส่ง JPEG ได้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1 — Wire ESP32-CAM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ต่อสาย ESP32-CAM + MB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6858000" cy="41148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658368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  ESP32-CAM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┌──────────┐         ESP32-CAM-MB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        │◄──────► (เสียบให้แน่น ทิศทางถูก)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GPIO0   │── ต่อลง GND ← ⚠️ ทำก่อน Upload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5V      │── 5V (จาก MB Board)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│  GND     │── GND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└──────────┘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│  USB Micro-B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    ▼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ต่อกับ Notebook / 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860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7043"/>
                </a:solidFill>
              </a:rPr>
              <a:t>⚠️  GPIO0 → GND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ต้องทำก่อน Upload ทุกครั้ง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</a:rPr>
              <a:t>หลัง Upload เสร็จ: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C8FF"/>
                </a:solidFill>
              </a:rPr>
              <a:t>→ ถอด jumper GPIO0 ออก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C8FF"/>
                </a:solidFill>
              </a:rPr>
              <a:t>→ กดปุ่ม RST บน MB Board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2 — Arduino IDE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ตั้งค่า Arduino 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1. เปิด Arduino IDE 2.x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2. File → Preferences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→ Additional boards manager URLs: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https://dl.espressif.com/dl/package_esp32_index.json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3. Tools → Board → Boards Manager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→ ค้นหา "esp32" → Install (Espressif Systems)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4. Tools → Board → ESP32 Arduino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→ เลือก "AI Thinker ESP32-CAM"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5. Tools → Port → เลือก COMx (ของ MB Board)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3 — Edit secrets.h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ใส่ Wi-Fi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คัดลอก  secrets.example.h  →  secrets.h  แล้วแก้ไข: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47120" cy="14630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52928"/>
            <a:ext cx="10972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// secrets.h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#define WIFI_SSID  "ชื่อ Wi-Fi ของคุณ"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#define WIFI_PASS  "รหัส Wi-Fi ของคุณ"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F7043"/>
                </a:solidFill>
              </a:rPr>
              <a:t>⚠️  secrets.h อยู่ใน .gitignore — ไม่ถูก commit ขึ้น GitHub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CD964"/>
                </a:solidFill>
              </a:rPr>
              <a:t>✅  ใช้ 2.4 GHz เท่านั้น (ESP32 ไม่รองรับ 5 GHz)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CD964"/>
                </a:solidFill>
              </a:rPr>
              <a:t>✅  ตรวจสอบให้ครั้งสุดท้ายก่อน Upload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4 — Flash Firmware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Upload Firmware เข้า ESP32-CAM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4206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1. ตรวจสอบ: GPIO0 ต่อลง GND แล้ว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2. กด Upload ใน Arduino IDE (→)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3. รอ "Connecting......____"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→ ถ้าค้าง: ลองกด RST บน MB Board สั้นๆ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4. เห็น "Writing at 0x..." = กำลัง flash ✅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5. เห็น "Hard resetting..." = flash เสร็จ ✅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6. ถอด jumper GPIO0 ออก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7. กด RST อีกครั้ง → ESP32-CAM บูตปกติ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7043"/>
                </a:solidFill>
              </a:rPr>
              <a:t>ปัญหาที่พบบ่อย: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0E4F5"/>
                </a:solidFill>
              </a:rPr>
              <a:t>❌ ค้างที่ Connecting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8A0B8"/>
                </a:solidFill>
              </a:rPr>
              <a:t>→ GPIO0 ไม่ได้ต่อ GND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0E4F5"/>
                </a:solidFill>
              </a:rPr>
              <a:t>❌ Upload failed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8A0B8"/>
                </a:solidFill>
              </a:rPr>
              <a:t>→ เลือก Port ผิด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0E4F5"/>
                </a:solidFill>
              </a:rPr>
              <a:t>❌ ไม่เห็น Port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8A0B8"/>
                </a:solidFill>
              </a:rPr>
              <a:t>→ ไม่มีไดรเวอร์ CH340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5 — Find IP &amp;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หา IP Address และทดสอบ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30175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# เปิด Serial Monitor (Tools → Serial Monitor)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Baud Rate: 115200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ควรเห็น: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Connecting to WiFi......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WiFi connected!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IP Address: 192.168.x.x   ← จด IP นี้ไว้!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Camera Ready! Stream: http://192.168.x.x:81/stream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C8FF"/>
                </a:solidFill>
              </a:rPr>
              <a:t>ทดสอบใน Browser: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0E4F5"/>
                </a:solidFill>
              </a:rPr>
              <a:t>http://&lt;IP&gt;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8A0B8"/>
                </a:solidFill>
              </a:rPr>
              <a:t>→ หน้า Web UI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0E4F5"/>
                </a:solidFill>
              </a:rPr>
              <a:t>http://&lt;IP&gt;/capture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8A0B8"/>
                </a:solidFill>
              </a:rPr>
              <a:t>→ ดาวน์โหลด JPEG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0E4F5"/>
                </a:solidFill>
              </a:rPr>
              <a:t>http://&lt;IP&gt;:81/stream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8A0B8"/>
                </a:solidFill>
              </a:rPr>
              <a:t>→ Live video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043"/>
                </a:solidFill>
              </a:rPr>
              <a:t>📝  จด IP Address ไว้ใช้ใน Lab 02-03-04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Lab 01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ESP32-CAM เชื่อมต่อ Wi-Fi สำเร็จ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Serial Monitor แสดง IP Address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http://&lt;IP&gt;  เปิดได้ใน Browser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http://&lt;IP&gt;/capture  ส่ง JPEG กลับมา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http://&lt;IP&gt;:81/stream  แสดง Live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D964"/>
                </a:solidFill>
              </a:rPr>
              <a:t>🎉  Lab 01 สำเร็จ! พร้อมสำหรับ Lab 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C8FF"/>
                </a:solidFill>
              </a:rPr>
              <a:t>Lab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REST API &amp;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46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E4F5"/>
                </a:solidFill>
              </a:rPr>
              <a:t>รัน Backend • ทดสอบ API • Mock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0B8"/>
                </a:solidFill>
              </a:rPr>
              <a:t>เวลา: ~60 นาที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Lab 02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สิ่งที่เราจะทำใน Lab นี้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สร้าง Python Virtual Environment (.venv)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ติดตั้ง dependencies ด้วย pip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ตั้งค่า .env ไฟล์  (VISION_PROVIDER=mock)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รัน FastAPI server ด้วย uvicorn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ทดสอบ upload รูปและดูผลผ่าน Web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964"/>
                </a:solidFill>
              </a:rPr>
              <a:t>🎯  เป้าหมาย: เข้าใจ API data flow — ไม่ต้องใช้ API key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1 — Create Virtual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สร้าง Python Virtual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Windows: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5760720" cy="2560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8"/>
            <a:ext cx="548640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# Windows (PowerShell / Command Prompt)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cd code\server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python -m venv .venv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.venv\Scripts\activate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เห็น (.venv) หน้า prompt = สำเร็จ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macOS / Linux: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5577840" cy="2560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70048"/>
            <a:ext cx="530352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# macOS / Linux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cd code/server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python3 -m venv .venv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source .venv/bin/activate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เห็น (.venv) หน้า prompt = สำเร็จ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A0B8"/>
                </a:solidFill>
              </a:rPr>
              <a:t>💡  Virtual Environment แยก Python packages ของ project ออกจากระบบ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2 — Install Dependencies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ติดตั้ง Python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pip install -r requirements.txt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packages ที่จะถูกติดตั้ง: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 fastapi          → web framework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 uvicorn          → ASGI server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 httpx            → fetch รูปจาก ESP32-CAM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 python-dotenv    → อ่านค่าจาก .env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 python-multipart → รับไฟล์ upload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 pillow           → image processing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 google-genai     → Gemini Vision SDK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 anthropic        → Claude Vision SDK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3 — Configure .env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ตั้งค่าไฟล์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คัดลอก  .env.example  →  .env  แล้วแก้ไข: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11247120" cy="2560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1097280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# .env  (Lab 02 — ใช้ mock provider ก่อน)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VISION_PROVIDER=mock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เติมทีหลังใน Lab 03: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GEMINI_API_KEY=your_key_here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GEMINI_MODEL=gemini-2.5-flash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CAM_URL=http://192.168.x.x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7043"/>
                </a:solidFill>
              </a:rPr>
              <a:t>⚠️  .env อยู่ใน .gitignore — ไม่ถูก commit ขึ้น GitHub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CD964"/>
                </a:solidFill>
              </a:rPr>
              <a:t>✅  mock provider ไม่ต้องใช้ API key — ตอบ canned response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4 — Run FastAPI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รัน Backend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# ใน terminal (ที่ activate .venv แล้ว)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uvicorn main:app --reload --host 0.0.0.0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ควรเห็น: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INFO:     Uvicorn running on http://0.0.0.0:8000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INFO:     Application startup complete.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เปิดใน Browser: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http://localhost:8000          → Web UI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http://localhost:8000/health   → { "status": "ok", "vision_provider": "mock" }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http://localhost:8000/prompts  → รายการ preset prompts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Lab 02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pip install สำเร็จ ไม่มี error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.env ไฟล์สร้างแล้ว  VISION_PROVIDER=mock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uvicorn รันได้ที่  http://localhost:8000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Web UI เปิดได้และมี preset prompts dropdown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Upload รูปทดสอบ → ได้รับ mock response กลับมา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/health แสดง  vision_provider: mock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D964"/>
                </a:solidFill>
              </a:rPr>
              <a:t>🎉  Lab 02 สำเร็จ! พร้อม connect AI จริงใน Lab 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7043"/>
                </a:solidFill>
              </a:rPr>
              <a:t>Lab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Vision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46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E4F5"/>
                </a:solidFill>
              </a:rPr>
              <a:t>API Key จริง • ภาพจากกล้อง • 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0B8"/>
                </a:solidFill>
              </a:rPr>
              <a:t>เวลา: ~75 นาที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Lab 03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เชื่อม Vision AI จริง กับกล้อง ESP32-CAM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สมัครและรับ Gemini API Key จาก Google AI Studio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ตั้งค่า GEMINI_API_KEY และ VISION_PROVIDER=gemini ใน .env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Restart uvicorn server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ชี้กล้องและกด Capture &amp; Analyze ครั้งแรก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</a:rPr>
              <a:t>✅  ทดลอง prompt อย่างน้อย 3 แบบ สังเกตความแตกต่าง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964"/>
                </a:solidFill>
              </a:rPr>
              <a:t>🎯  เป้าหมาย: AI จริงวิเคราะห์ภาพจากกล้อง ESP32-CAM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1 — Get Gemini API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รับ API Key จาก Google AI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36576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1. เปิด Browser → aistudio.google.com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2. Sign in ด้วย Google Account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3. คลิก  "Get API key"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4. คลิก  "Create API key"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5. คัดลอก key (ขึ้นต้นด้วย AIza...)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6. วางใน .env: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   GEMINI_API_KEY=AIzaXXXXXXXXXXXXXXXXXX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C8FF"/>
                </a:solidFill>
              </a:rPr>
              <a:t>Free Tier: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CD964"/>
                </a:solidFill>
              </a:rPr>
              <a:t>1,500 req / วัน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CD964"/>
                </a:solidFill>
              </a:rPr>
              <a:t>ไม่ต้องใช้บัตรเครดิต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8A0B8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7043"/>
                </a:solidFill>
              </a:rPr>
              <a:t>⚠️  อย่าแชร์ API key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7043"/>
                </a:solidFill>
              </a:rPr>
              <a:t>อย่า commit ลง GitHub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2 — Update .env &amp; Restart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แก้ .env แล้ว Restart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# .env  (Lab 03)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VISION_PROVIDER=gemini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GEMINI_API_KEY=AIzaXXXXXXXXXXXXXXXXXX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GEMINI_MODEL=gemini-2.5-flash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CAM_URL=http://192.168.x.x   ← IP จาก Lab 01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Restart uvicorn: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กด Ctrl+C แล้วรันใหม่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uvicorn main:app --reload --host 0.0.0.0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ตรวจสอบ: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GET http://localhost:8000/health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→ { "vision_provider": "gemini" 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3 — First AI Analysis!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วิเคราะห์ภาพครั้งแรกด้วย Gemini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1. เปิด http://localhost:8000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2. กรอก ESP32-CAM URL:  http://192.168.x.x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3. เลือก Prompt: "อธิบายสิ่งที่เห็นในภาพนี้"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4. กดปุ่ม  [ Capture &amp; Analyze 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5. รอ 2-5 วินาที...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6. ดูผลลัพธ์ใน Result panel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ถ้าได้ error: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401 → API key ผิด / ไม่ได้ตั้ง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429 → quota เต็ม → รอ 1 นาที หรือ mock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# 502 → network / camera problem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4 — Prompt Experiments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ทดลอง Prompt อย่างน้อย 3 แบบ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247120" cy="1188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Prompt A (กว้าง)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</a:rPr>
              <a:t>"อธิบายสิ่งที่เห็นในภาพนี้"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47120" cy="1188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Prompt B (เจาะจง)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673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</a:rPr>
              <a:t>"นับจำนวนวัตถุแต่ละประเภทในภาพ ตอบเป็น list"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1247120" cy="1188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Prompt C (มี Role)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38927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</a:rPr>
              <a:t>"คุณคือผู้เชี่ยวชาญ วิเคราะห์ภาพและให้คะแนน 1-10"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สังเกต: Prompt ที่ต่างกัน → คำตอบที่ต่างกัน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Lab 03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Gemini API Key ตั้งค่าใน .env สำเร็จ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/health แสดง  vision_provider: gemini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กด Capture &amp; Analyze แล้วได้ผลจาก Gemini จริง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ทดลองอย่างน้อย 3 prompt แตกต่างกัน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FFFF"/>
                </a:solidFill>
              </a:rPr>
              <a:t>✅  เห็นว่า prompt ส่งผลต่อความละเอียดของคำตอบ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D964"/>
                </a:solidFill>
              </a:rPr>
              <a:t>🎉  Lab 03 สำเร็จ! พร้อมสร้าง Mini Project ใน Lab 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C8FF"/>
                </a:solidFill>
              </a:rPr>
              <a:t>Lab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Vision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46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E4F5"/>
                </a:solidFill>
              </a:rPr>
              <a:t>เลือก Project • เขียน Prompt • สร้าง AI ของตัวเอง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0B8"/>
                </a:solidFill>
              </a:rPr>
              <a:t>เวลา: ~75 นาที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Lab 04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สร้าง AI Vision Project ของตัวเอง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47120" cy="8686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1. เลือกหัวข้อ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916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เลือก 1 ใน 5 preset หรือคิดขึ้นเอง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11247120" cy="8686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2. เขียน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974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ใช้สูตร Role + Task + Format +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11247120" cy="8686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3. ทดสอบ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033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กด Capture &amp; Analyze ≥ 3 ครั้ง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11247120" cy="8686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4. ปรับปรุง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709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แก้ prompt จนได้ผลที่พอใจ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5. นำเสนอ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7150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demo + อธิบาย prompt + สิ่งที่เรียนรู้ (2 นาที)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1 — Choose Your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เลือกหัวข้อ 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🗑️  Waste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2128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จำแนกขยะเป็น รีไซเคิล / อินทรีย์ / อันตราย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986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🌿  Plant Health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986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ประเมินสุขภาพต้นไม้จากสี ใบ และลักษณะ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🔢  Object 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844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นับจำนวนวัตถุแต่ละประเภทในภาพ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702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🖥️  Desk Cleanliness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2702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ให้คะแนนความสะอาด / เป็นระเบียบของโต๊ะ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</a:rPr>
              <a:t>🔧  Equipment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9560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</a:rPr>
              <a:t>ตรวจสอบอุปกรณ์ในห้องปฏิบัติการ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8FF"/>
                </a:solidFill>
              </a:rPr>
              <a:t>💡  หรือคิดหัวข้อขึ้นเองก็ได้!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Step 2 — Write Your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เขียน Custom Prompt สำหรับ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858000" cy="41148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0008"/>
            <a:ext cx="658368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# สูตร: Role + Task + Format + Language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คุณคือ [บทบาทของ AI]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วิเคราะห์ภาพนี้และ[สิ่งที่ต้องทำ]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ตอบในรูปแบบ: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[หัวข้อ 1]: [ค่า]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[หัวข้อ 2]: [ค่า]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สรุป: [ประโยคสรุป]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ตอบเป็นภาษาไทย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4028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C8FF"/>
                </a:solidFill>
              </a:rPr>
              <a:t>Tips: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0E4F5"/>
                </a:solidFill>
              </a:rPr>
              <a:t>• ทดสอบอย่างน้อย 3 ครั้ง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0E4F5"/>
                </a:solidFill>
              </a:rPr>
              <a:t>• ถ้า AI ตอบกว้างเกิน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8A0B8"/>
                </a:solidFill>
              </a:rPr>
              <a:t>  → เพิ่มรายละเอียดใน Format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0E4F5"/>
                </a:solidFill>
              </a:rPr>
              <a:t>• ถ้า AI ตอบไม่ตรง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8A0B8"/>
                </a:solidFill>
              </a:rPr>
              <a:t>  → ปรับ Role ให้ชัดขึ้น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0E4F5"/>
                </a:solidFill>
              </a:rPr>
              <a:t>• ดูตัวอย่างใน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CD964"/>
                </a:solidFill>
              </a:rPr>
              <a:t>  docs/Prompt-Library.md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Presentation Tips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วิธีนำเสนอ Mini Project (2 นาที)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112471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</a:rPr>
              <a:t>🎯  Demo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ชี้กล้องไปที่วัตถุจริง แล้วกด Capture &amp; Analyze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44368"/>
            <a:ext cx="112471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</a:rPr>
              <a:t>📝  แสดง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3580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บอกว่าเขียน prompt อะไร และทำไมถึงเลือกแบบนั้น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51376"/>
            <a:ext cx="112471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</a:rPr>
              <a:t>📊  แสดงผลลัพธ์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242816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AI ตอบอะไร? ตรงกับที่คาดหวังไหม?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58384"/>
            <a:ext cx="112471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44982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</a:rPr>
              <a:t>💡  สิ่งที่เรียนรู้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449824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ได้เรียนรู้อะไรจาก workshop นี้?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Mini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7043"/>
                </a:solidFill>
              </a:rPr>
              <a:t>ไอเดียโปรเจกต์สำหรับ Lab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0B8"/>
                </a:solidFill>
              </a:rPr>
              <a:t>Section 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</a:rPr>
              <a:t>🗑️  Waste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จำแนกประเภทขยะ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คุณคือระบบ AI จำแนกขยะอัจฉริยะ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วิเคราะห์ขยะในภาพและตอบในรูปแบบนี้: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🗑️ ประเภทขยะ: [ชื่อ]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♻️ หมวดหมู่: รีไซเคิล / อินทรีย์ / ทั่วไป / อันตราย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✅ วิธีทิ้ง: [คำแนะนำ]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ตอบภาษาไทย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964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🗑️ ประเภทขยะ: ขวดพลาสติก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♻️ หมวดหมู่: รีไซเคิล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✅ วิธีทิ้ง: ทิ้งในถังขยะรีไซเคิลสีเหลือง ล้างให้สะอาดก่อนทิ้ง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</a:rPr>
              <a:t>🌿  Plant Health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วิเคราะห์สุขภาพต้นไม้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คุณคือนักพฤกษศาสตร์ผู้เชี่ยวชาญ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วิเคราะห์ต้นไม้ในภาพและตอบ: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🌿 ชนิด: [ถ้าระบุได้]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💚 สุขภาพ: ดีมาก / ดี / ปานกลาง / ต้องการดูแลด่วน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🔍 สังเกต: [สีใบ, จุด, ใบเหี่ยว]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💧 การรดน้ำ: [แนะนำ]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🌱 คำแนะนำ: [2-3 ข้อ]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964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🌿 ชนิด: ต้นมอนสเตอร่า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💚 สุขภาพ: ดี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🔍 สังเกต: ใบสีเขียวเข้ม สมบูรณ์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💧 การรดน้ำ: เพียงพอแล้ว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🌱 คำแนะนำ: วางในที่มีแสงรำไร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</a:rPr>
              <a:t>🔢  Object 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นับจำนวนวัตถุ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นับและจำแนกวัตถุทุกชิ้นในภาพนี้อย่างละเอียด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ตอบในรูปแบบ: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[ชื่อวัตถุ]: [จำนวน]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...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รวมทั้งหมด: [จำนวน] ชิ้น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หมายเหตุ: [วัตถุที่มองไม่ชัด]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964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โน้ตบุ๊ค: 1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กาแฟ: 1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หนังสือ: 3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ปากกา: 2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แอปเปิ้ล: 1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รวมทั้งหมด: 8 ชิ้น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</a:rPr>
              <a:t>🖥️  Desk Cleanliness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ประเมินความเป็นระเบียบของโต๊ะ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คุณคือผู้ตรวจสอบความสะอาด ประเมินโต๊ะนี้: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⭐ คะแนน: [1-5 ดาว]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📦 สิ่งของ: [รายการ]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✅ จุดที่ดี: [สิ่งที่เป็นระเบียบ]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⚠️ ปรับปรุง: [สิ่งที่ควรจัดใหม่]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💡 คำแนะนำ: [2-3 ข้อ]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964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⭐ คะแนน: 4 ดาว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📦 สิ่งของ: โน้ตบุ๊ค, เมาส์, แก้วน้ำ, สมุด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✅ จุดที่ดี: จัดสายไฟเป็นระเบียบดี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⚠️ ปรับปรุง: มีเศษกระดาษบนโต๊ะ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</a:rPr>
              <a:t>🔧  Equipment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</a:rPr>
              <a:t>ตรวจสอบอุปกรณ์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คุณคือระบบตรวจสอบอุปกรณ์ห้องปฏิบัติการ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วิเคราะห์ภาพและระบุ: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🔧 อุปกรณ์ที่พบ: [รายการ]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✅ พร้อมใช้งาน: [รายการ]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⚠️ ต้องตรวจสอบ: [รายการ]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❌ หายหรือชำรุด: [ถ้ามี]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สรุป: [1 ประโยค]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D964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urier New"/>
              </a:rPr>
              <a:t>🔧 พบ: ESP32-CAM, สาย USB, breadboard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✅ พร้อม: ESP32-CAM, สาย USB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⚠️ ตรวจสอบ: breadboard (มีสีออกซิไดซ์)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❌ หาย: -</a:t>
            </a:r>
          </a:p>
          <a:p>
            <a:r>
              <a:rPr sz="1400">
                <a:solidFill>
                  <a:srgbClr val="4CD964"/>
                </a:solidFill>
                <a:latin typeface="Courier New"/>
              </a:rPr>
              <a:t>สรุป: อุปกรณ์ส่วนใหญ่พร้อมใช้งาน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Future Career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เส้นทางอาชีพที่เกี่ยวข้อง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🤖 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พัฒนาโมเดล AI, fine-tuning,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72768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📡  IoT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ออกแบบระบบเซนเซอร์, firmware,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272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📊  Data Scientist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วิเคราะห์ข้อมูล, ML models, visualization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35808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1272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🤖  Robotics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หุ่นยนต์ที่ใช้ computer vision นำทาง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98848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90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🛡️  AI Safety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ความปลอดภัยและจริยธรรมของ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498848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590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🚀  AI Product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029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นำทีมสร้าง product ที่ขับเคลื่อนด้วย AI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Additional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แหล่งเรียนรู้เพิ่มเติม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8046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📖  Workshop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6459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github.com/Pachara966/esp32cam-ai-vision-workshop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05456"/>
            <a:ext cx="11247120" cy="8046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🤖  Google AI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78608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aistudio.google.com  (Gemini API Key)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38144"/>
            <a:ext cx="11247120" cy="8046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11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🧠  Anthropic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511296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console.anthropic.com  (Claude API Key)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70832"/>
            <a:ext cx="11247120" cy="8046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43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📚  FastAPI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443984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fastapi.tiangolo.com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11247120" cy="8046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76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📷  ESP32 Arduino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37667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docs.espressif.com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36208"/>
            <a:ext cx="11247120" cy="8046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09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</a:rPr>
              <a:t>🎓  Google ML Crash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63093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</a:rPr>
              <a:t>developers.google.com/machine-learning/crash-course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Workshop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0B8"/>
                </a:solidFill>
              </a:rPr>
              <a:t>สรุป Workshop วันนี้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9601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371600" cy="9601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470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ติดตั้ง ESP32-CAM + Flash Firmware + Live 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61488"/>
            <a:ext cx="11247120" cy="9601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61488"/>
            <a:ext cx="137160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626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รัน FastAPI Backend + ทำความเข้าใจ REST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77056"/>
            <a:ext cx="11247120" cy="9601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77056"/>
            <a:ext cx="1371600" cy="9601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5993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7822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เชื่อม Gemini Vision + Prompt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92624"/>
            <a:ext cx="11247120" cy="9601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992624"/>
            <a:ext cx="1371600" cy="96012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7550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937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</a:rPr>
              <a:t>สร้าง AI Vision Mini Project ของตัวเอง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CD964"/>
                </a:solidFill>
              </a:rPr>
              <a:t>🎉  ภายใน 1 วัน นักเรียนสร้างระบบ AI Vision ที่ใช้งานได้จริง!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76169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0" b="1" i="0">
                <a:solidFill>
                  <a:srgbClr val="172A3E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8FF"/>
                </a:solidFill>
              </a:rPr>
              <a:t>ถามได้เลยครับ / Feel free to ask!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91440" cy="663854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ขอบคุณทุกคน!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8FF"/>
                </a:solidFill>
              </a:rPr>
              <a:t>Thank You!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154680"/>
            <a:ext cx="5788152" cy="54864"/>
          </a:xfrm>
          <a:prstGeom prst="rect">
            <a:avLst/>
          </a:prstGeom>
          <a:solidFill>
            <a:srgbClr val="88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D0E4F5"/>
                </a:solidFill>
              </a:rPr>
              <a:t>มหาวิทยาลัยเทคโนโลยีราชมงคลธัญบุรี (RMUTT)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A0B8"/>
                </a:solidFill>
              </a:rPr>
              <a:t>[ชื่อผู้สอน / Instructor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8FF"/>
                </a:solidFill>
              </a:rPr>
              <a:t>github.com/Pachara966/esp32cam-ai-vision-workshop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043"/>
                </a:solidFill>
              </a:rPr>
              <a:t>#ESP32CAM_AI_RMUTT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0B8"/>
                </a:solidFill>
              </a:rPr>
              <a:t>🎉  สร้างโดย: ESP32-CAM AI Vision Workshop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