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0" y="0"/>
            <a:ext cx="6062472" cy="6858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6480" y="3154680"/>
            <a:ext cx="6062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126480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6126480" cy="1097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09728"/>
            <a:ext cx="73152" cy="663854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C8FF"/>
                </a:solidFill>
                <a:latin typeface="Sarabun"/>
              </a:rPr>
              <a:t>ESP32-CAM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AI Vision Workshop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3657600" cy="457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907792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การพัฒนากล้องอัจฉริยะด้วย ESP32-CAM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และปัญญาประดิษฐ์สำหรับการวิเคราะห์ภาพ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3891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มหาวิทยาลัยเทคโนโลยีราชมงคลธัญบุรี (RMUTT)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0B8"/>
                </a:solidFill>
                <a:latin typeface="Sarabun"/>
              </a:rPr>
              <a:t>[วันที่ / Date]  •  #ESP32CAM_AI_RMUTT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Workshop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ในวันนี้เราจะสร้างอะไร?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C8FF"/>
                </a:solidFill>
                <a:latin typeface="Sarabun"/>
              </a:rPr>
              <a:t>เราจะสร้างระบบกล้อง AI ที่สามารถ...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84831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  <a:latin typeface="Sarabun"/>
              </a:rPr>
              <a:t>วิเคราะห์ภาพ  •  นับวัตถุ  •  จำแนกประเภท  •  ตอบคำถาม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11247120" cy="361188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2697480"/>
            <a:ext cx="6400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00C8FF"/>
                </a:solidFill>
                <a:latin typeface="Sarabun"/>
              </a:rPr>
              <a:t>📷  ESP32-CAM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88A0B8"/>
                </a:solidFill>
                <a:latin typeface="Sarabun"/>
              </a:rPr>
              <a:t>        │  Wi-Fi  →  /capture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88A0B8"/>
                </a:solidFill>
                <a:latin typeface="Sarabun"/>
              </a:rPr>
              <a:t>        ▼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D0E4F5"/>
                </a:solidFill>
                <a:latin typeface="Sarabun"/>
              </a:rPr>
              <a:t>⚙️   FastAPI Backend  (Python)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88A0B8"/>
                </a:solidFill>
                <a:latin typeface="Sarabun"/>
              </a:rPr>
              <a:t>        │  image_bytes + prompt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88A0B8"/>
                </a:solidFill>
                <a:latin typeface="Sarabun"/>
              </a:rPr>
              <a:t>        ▼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7043"/>
                </a:solidFill>
                <a:latin typeface="Sarabun"/>
              </a:rPr>
              <a:t>🤖  Vision AI  (Gemini / Claude)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88A0B8"/>
                </a:solidFill>
                <a:latin typeface="Sarabun"/>
              </a:rPr>
              <a:t>        │  JSON response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88A0B8"/>
                </a:solidFill>
                <a:latin typeface="Sarabun"/>
              </a:rPr>
              <a:t>        ▼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4CD964"/>
                </a:solidFill>
                <a:latin typeface="Sarabun"/>
              </a:rPr>
              <a:t>📊  Web UI  —  ผลการวิเคราะห์ภาพ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เมื่อสิ้นสุด Workshop นักเรียนจะสามารถ: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45720" cy="65836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934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arabun"/>
              </a:rPr>
              <a:t>1.  ติดตั้งและใช้งาน ESP32-CAM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568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A0B8"/>
                </a:solidFill>
                <a:latin typeface="Sarabun"/>
              </a:rPr>
              <a:t>Configure &amp; Flash Firmware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22576"/>
            <a:ext cx="45720" cy="65836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35915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arabun"/>
              </a:rPr>
              <a:t>2.  อธิบาย REST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06624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A0B8"/>
                </a:solidFill>
                <a:latin typeface="Sarabun"/>
              </a:rPr>
              <a:t>Explain REST API &amp; HTTP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72384"/>
            <a:ext cx="45720" cy="65836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arabun"/>
              </a:rPr>
              <a:t>3.  รัน Python Backend ด้วย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564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A0B8"/>
                </a:solidFill>
                <a:latin typeface="Sarabun"/>
              </a:rPr>
              <a:t>Run FastAPI Server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822191"/>
            <a:ext cx="45720" cy="65836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587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arabun"/>
              </a:rPr>
              <a:t>4.  ใช้ Vision AI API วิเคราะห์ภาพ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A0B8"/>
                </a:solidFill>
                <a:latin typeface="Sarabun"/>
              </a:rPr>
              <a:t>Use Gemini / Claude Vision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72000"/>
            <a:ext cx="45720" cy="65836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0857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arabun"/>
              </a:rPr>
              <a:t>5.  เขียน Prompt ที่เจาะจง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56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A0B8"/>
                </a:solidFill>
                <a:latin typeface="Sarabun"/>
              </a:rPr>
              <a:t>Design Effective Prompts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321808"/>
            <a:ext cx="45720" cy="65836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58384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Sarabun"/>
              </a:rPr>
              <a:t>6.  สร้าง AI Vision Mini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70585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8A0B8"/>
                </a:solidFill>
                <a:latin typeface="Sarabun"/>
              </a:rPr>
              <a:t>Build a Real AI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Workshop 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ตารางเวลา 1 วัน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4475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08:30–09:00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444752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ลงทะเบียน / รับอุปกรณ์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9222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09:00–09:30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865376"/>
            <a:ext cx="36576" cy="23774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51760" y="1792224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Lecture: AI + IoT + Computer Vision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139696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09:30–10:30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212848"/>
            <a:ext cx="36576" cy="23774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2139696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Lab 01 — ESP32-CAM Camera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48716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10:30–10:45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487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พัก 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83463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10:45–11:45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2907791"/>
            <a:ext cx="36576" cy="23774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2834639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Lab 02 — REST API &amp; Backend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18211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11:45–12:45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3182111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พักกลางวัน 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529583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12:45–13:00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4600" y="3602735"/>
            <a:ext cx="36576" cy="23774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51760" y="3529583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Lecture: Prompt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3877055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13:00–14:15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3950207"/>
            <a:ext cx="36576" cy="23774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51760" y="3877055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Lab 03 — AI Vision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24527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14:15–14:30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224527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พัก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571999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14:30–15:45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514600" y="4645151"/>
            <a:ext cx="36576" cy="23774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51760" y="4571999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Lab 04 — Mini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919471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A0B8"/>
                </a:solidFill>
                <a:latin typeface="Sarabun"/>
              </a:rPr>
              <a:t>15:45–16:00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51760" y="4919471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นำเสนอผลงาน / มอบใบประกาศ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5352" y="31546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54864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  <a:latin typeface="Sarabun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" y="6236208"/>
            <a:ext cx="58521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arabun"/>
              </a:rPr>
              <a:t>IoT &amp; ESP32-CAM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8FF"/>
                </a:solidFill>
                <a:latin typeface="Sarabun"/>
              </a:rPr>
              <a:t>อินเทอร์เน็ตของสรรพสิ่ง และกล้อง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67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  <a:latin typeface="Sarabun"/>
              </a:rPr>
              <a:t>Section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What is IoT?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Internet of Things — อินเทอร์เน็ตของสรรพสิ่ง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00C8FF"/>
                </a:solidFill>
                <a:latin typeface="Sarabun"/>
              </a:rPr>
              <a:t>IoT = อุปกรณ์ที่เชื่อมต่ออินเทอร์เน็ตเพื่อส่ง/รับข้อมูล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50008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340864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🏠  Smart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24912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หลอดไฟ, กล้องวงจรปิด, ล็อคประตู ที่ควบคุมผ่านมือถือ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11879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602736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🏭  Smart Factory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986784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เซนเซอร์ตรวจจับอุณหภูมิ, แรงสั่นสะเทือน, แจ้งเตือนอัตโนมัติ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873751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4864607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🌱  Smart Agriculture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248655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กล้องถ่ายภาพต้นไม้ → AI วิเคราะห์โรค → แจ้งเตือนเกษตรกร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ESP32-CAM 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โมดูลกล้อง AI Thinker — หัวใจของ Workshop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Sarabun"/>
              </a:rPr>
              <a:t>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572768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ESP32 Dual-Core 240 MHz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93392"/>
            <a:ext cx="658368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139696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Sarabun"/>
              </a:rPr>
              <a:t>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139696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520 KB SRAM  +  4 MB PSRAM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658368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706624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Sarabun"/>
              </a:rPr>
              <a:t>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706624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4 MB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27248"/>
            <a:ext cx="658368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273552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Sarabun"/>
              </a:rPr>
              <a:t>Camera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3273552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OV2640  2MP  (สูงสุด 1600×1200)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94176"/>
            <a:ext cx="658368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4048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Sarabun"/>
              </a:rPr>
              <a:t>Wi-Fi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840480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802.11 b/g/n  2.4 GHz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61104"/>
            <a:ext cx="658368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407408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8FF"/>
                </a:solidFill>
                <a:latin typeface="Sarabun"/>
              </a:rPr>
              <a:t>Price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4407408"/>
            <a:ext cx="4572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~150–250 บาท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28032"/>
            <a:ext cx="658368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417320"/>
            <a:ext cx="4480560" cy="50749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368046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610819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0B8"/>
                </a:solidFill>
                <a:latin typeface="Sarabun"/>
              </a:rPr>
              <a:t>AI Thinker ESP32-CAM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ESP32-CAM Hardware Tour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รู้จักส่วนประกอบสำคัญ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47120" cy="49377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82495"/>
            <a:ext cx="1097280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  ┌─────────────────────────────┐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      OV2640 Camera        │  ← ถอด-เสียบได้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┌───────────────────────┐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│    ESP32-WROVER SoC   │  │  ← CPU + Wi-Fi + RAM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└───────────────────────┘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GPIO0 ── ต่อ GND ขณะ flash │  ← ⚠️ สำคัญมาก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5V / GND ── จ่ายไฟ 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GPIO1/3  ── UART (Serial)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└─────────────────────────────┘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 │  USB (ผ่าน MB Board)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 ▼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ESP32-CAM-MB  (CH340)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Wi-Fi &amp; Networking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เครือข่ายในห้อง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73352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64208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SSID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ชื่อ Wi-Fi ที่มองเห็น  → ใส่ใน secrets.h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60904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51760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Password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35808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รหัส Wi-Fi             → ใส่ใน secrets.h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48456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639312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IP Address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023360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เช่น 192.168.1.50 — ที่อยู่ของ ESP32-CAM ในเครือข่าย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36008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626864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010912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Web UI: port 80  •  Stream: port 81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623560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614416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⚠️  2.4 GHz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998464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ESP32 รองรับแค่ 2.4 GHz  —  ไม่รองรับ 5 GHz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5352" y="31546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54864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  <a:latin typeface="Sarabun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" y="6236208"/>
            <a:ext cx="58521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arabun"/>
              </a:rPr>
              <a:t>REST API &amp;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8FF"/>
                </a:solidFill>
                <a:latin typeface="Sarabun"/>
              </a:rPr>
              <a:t>การสื่อสารระหว่างอุปกรณ์กับ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67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  <a:latin typeface="Sarabun"/>
              </a:rPr>
              <a:t>Section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What is REST API?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API คืออะไร? — เปรียบเหมือนร้านอาหาร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760720" cy="48920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8FF"/>
                </a:solidFill>
                <a:latin typeface="Sarabun"/>
              </a:rPr>
              <a:t>🍽️  ร้านอาหาร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576072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2677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ลูกค้า =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8950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พนักงาน =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51129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ครัว = Server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133087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เมนู = Endpoints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7548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ออเดอร์ =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537667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อาหาร =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1600200"/>
            <a:ext cx="5760720" cy="48920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7688" y="169164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00C8FF"/>
                </a:solidFill>
                <a:latin typeface="Sarabun"/>
              </a:rPr>
              <a:t>💻  REST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2103120"/>
            <a:ext cx="5760720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26771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Browser = Client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2889504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API =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3511296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FastAPI = Server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4133087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GET /prompts, POST /analyze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47548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HTTP Request + 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47688" y="5376672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JSON Response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HTTP GET vs POST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วิธีส่งข้อมูลผ่าน HTTP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5760720" cy="49377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760720" cy="59436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27632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35915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0E4F5"/>
                </a:solidFill>
                <a:latin typeface="Sarabun"/>
              </a:rPr>
              <a:t>ขอดึงข้อมูล (Read)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907792"/>
            <a:ext cx="5376672" cy="13898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3017520"/>
            <a:ext cx="5102352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GET /prompts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GET /health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434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  <a:latin typeface="Sarabun"/>
              </a:rPr>
              <a:t>ไม่มี body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600200"/>
            <a:ext cx="5760720" cy="49377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46520" y="1600200"/>
            <a:ext cx="5760720" cy="59436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1627632"/>
            <a:ext cx="5394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POST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7688" y="2359152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D0E4F5"/>
                </a:solidFill>
                <a:latin typeface="Sarabun"/>
              </a:rPr>
              <a:t>ส่งข้อมูลไป (Write/Send)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47688" y="2907792"/>
            <a:ext cx="5376672" cy="13898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3017520"/>
            <a:ext cx="5102352" cy="11612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POST /analyze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{ cam_url, prompt 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7688" y="443484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  <a:latin typeface="Sarabun"/>
              </a:rPr>
              <a:t>ส่ง body เป็น JSON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JSON Basics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รูปแบบข้อมูลที่ใช้สื่อสารระหว่าง Backend กับ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C8FF"/>
                </a:solidFill>
                <a:latin typeface="Sarabun"/>
              </a:rPr>
              <a:t>JSON = JavaScript Object Notation — ข้อมูล key: value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6858000" cy="431596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258568"/>
            <a:ext cx="6583680" cy="4087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{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"provider": "gemini",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"filename":  "photo.jpg",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"image_size_bytes": 12480,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"result": "ภาพแสดงโต๊ะทำงานที่มีโน้ตบุ๊ค 1 เครื่อง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     กาแฟ 1 แก้ว และหนังสือ 3 เล่ม"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148840"/>
            <a:ext cx="4389120" cy="4315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1">
                <a:solidFill>
                  <a:srgbClr val="00C8FF"/>
                </a:solidFill>
                <a:latin typeface="Sarabun"/>
              </a:rPr>
              <a:t>Key Points: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• ใช้  { }  สำหรับ object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• ใช้  [ ]  สำหรับ list/array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• Key ใส่ใน  " "  เสมอ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• Value: string, number,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  boolean, list, object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• ทุก API ตอบกลับเป็น 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FastAPI Backend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สถาปัตยกรรมของ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47120" cy="498348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82495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Browser / Web UI  (localhost:8000)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  POST /analyze   { cam_url, prompt }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▼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┌─────────────────────────────────────┐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         FastAPI (main.py) 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 GET /       → index.html  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 GET /prompts → preset list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 POST /analyze → fetch + AI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 POST /analyze-upload → AI 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│   GET /health  → status     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└──────────────┬──────────────────────┘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         │          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┌────────┴────────┐  ┌──────┴──────┐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  ESP32-CAM       │  │  Vision AI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  /capture (JPEG) │  │  mock/gemini│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└──────────────────┘  │  /claude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                      └─────────────┘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5352" y="31546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54864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  <a:latin typeface="Sarabun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" y="6236208"/>
            <a:ext cx="5852160" cy="5486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arabun"/>
              </a:rPr>
              <a:t>AI &amp;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7043"/>
                </a:solidFill>
                <a:latin typeface="Sarabun"/>
              </a:rPr>
              <a:t>ปัญญาประดิษฐ์และการวิเคราะห์ภาพ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67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  <a:latin typeface="Sarabun"/>
              </a:rPr>
              <a:t>Section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What is 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ปัญญาประดิษฐ์คืออะไร?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657600" cy="48920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3657600" cy="502920"/>
          </a:xfrm>
          <a:prstGeom prst="rect">
            <a:avLst/>
          </a:prstGeom>
          <a:solidFill>
            <a:srgbClr val="88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arabun"/>
              </a:rPr>
              <a:t>Rule-Based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กฎตายตัว
IF วัตถุกลม AND สีแดง → THEN แอปเปิ้ล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87952" y="356616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FF"/>
                </a:solidFill>
                <a:latin typeface="Sarabun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600200"/>
            <a:ext cx="3657600" cy="48920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61688" y="1600200"/>
            <a:ext cx="365760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8848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arabun"/>
              </a:rPr>
              <a:t>Machine
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8" y="23317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เรียนรู้จากตัวอย่าง
1,000 รูป → เรียนรู้เอง → ทำนาย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566160"/>
            <a:ext cx="365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C8FF"/>
                </a:solidFill>
                <a:latin typeface="Sarabun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66175" y="1600200"/>
            <a:ext cx="3657600" cy="489204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66175" y="1600200"/>
            <a:ext cx="3657600" cy="5029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03336" y="1627632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arabun"/>
              </a:rPr>
              <a:t>Generative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3336" y="233172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สร้างคำตอบใหม่
รับรูป + prompt → ตอบภาษาธรรมชาติ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Generative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AI ที่สร้างคำตอบใหม่จากข้อมูลที่ได้รับ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28216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📝  Text Generation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12264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เขียนเรียงความ, สรุปข้อมูล, ตอบคำถาม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07791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898648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🖼️  Image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82696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สร้างภาพจากคำอธิบาย (Midjourney, DALL-E)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078224"/>
            <a:ext cx="45720" cy="77724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069080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CD964"/>
                </a:solidFill>
                <a:latin typeface="Sarabun"/>
              </a:rPr>
              <a:t>👁️  Image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453128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อธิบาย, จำแนก, นับ สิ่งที่อยู่ในภาพ  ← Workshop นี้!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248656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5239512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💻  Code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623560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เขียนโปรแกรมจาก requirements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Vision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AI ที่ 'มองเห็น' และเข้าใจภาพ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7276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00C8FF"/>
                </a:solidFill>
                <a:latin typeface="Sarabun"/>
              </a:rPr>
              <a:t>Vision AI รับภาพ + prompt แล้วตอบกลับเป็นข้อความ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219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🔍 Object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24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ระบุวัตถุในภาพ: แมว, โต๊ะ, ขวด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148840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22199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🔢 Counting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2432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นับจำนวน: มีหนังสือ 3 เล่ม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410712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48386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🎨 Color / Scene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86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วิเคราะห์สีและบรรยากาศ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3410712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3483864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📊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8862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จำแนกประเภท: ขยะรีไซเคิล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72583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7457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💚 Health Assessment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14807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ประเมินสุขภาพ: ต้นไม้มีใบเหลือง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672583"/>
            <a:ext cx="5760720" cy="10515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20840" y="4745736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📝 Text Reading (OCR)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514807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อ่านตัวหนังสือในภาพ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Gemini Vision (Google)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Vision AI โดย Google — แนะนำสำหรับ Workshop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47120" cy="498348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7556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gemini-2.5-flash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128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414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414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Google AI Studio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986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272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1272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ฟรีสำหรับนักเรียน — aistudio.google.com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844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130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Free Tier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130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1,500 requests/วัน  (เพียงพอสำหรับ Workshop)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702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988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SDK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4988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google-genai  (python)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560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846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ENV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1846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VISION_PROVIDER=gemini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418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0350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64"/>
                </a:solidFill>
                <a:latin typeface="Sarabun"/>
              </a:rPr>
              <a:t>✅  แนะนำให้เริ่มด้วย Gemini เพราะ free tier สูงที่สุด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Claude Vision (Anthropic)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Vision AI โดย Anthropic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47120" cy="498348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7556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claude-haiku-4-5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2128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414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Provider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414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Anthropic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8986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272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API 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1272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console.anthropic.com  (ต้องใส่บัตรเครดิต)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844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8130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8130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$1.00 / M input tokens  •  $5.00 / M output tokens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702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988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SDK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4988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anthropic  (python)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49560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18464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ENV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184648"/>
            <a:ext cx="84124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VISION_PROVIDER=claude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641848"/>
            <a:ext cx="10789920" cy="9144"/>
          </a:xfrm>
          <a:prstGeom prst="rect">
            <a:avLst/>
          </a:prstGeom>
          <a:solidFill>
            <a:srgbClr val="1E32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60350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C8FF"/>
                </a:solidFill>
                <a:latin typeface="Sarabun"/>
              </a:rPr>
              <a:t>💡  เปลี่ยนแค่ VISION_PROVIDER=claude ใน .env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Prompt Engineering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วิธีเขียนคำสั่งให้ AI ตอบได้ตรงใจ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47120" cy="65836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1848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C8FF"/>
                </a:solidFill>
                <a:latin typeface="Sarabun"/>
              </a:rPr>
              <a:t>[Role]  +  [Task]  +  [Format]  +  [Language]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23160"/>
            <a:ext cx="11247120" cy="9326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4780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47802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  <a:latin typeface="Sarabun"/>
              </a:rPr>
              <a:t>"คุณคือผู้เชี่ยวชาญด้านสิ่งแวดล้อม"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478024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  <a:latin typeface="Sarabun"/>
              </a:rPr>
              <a:t>บอก AI ว่าเป็นใคร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02152"/>
            <a:ext cx="11247120" cy="9326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55701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55701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  <a:latin typeface="Sarabun"/>
              </a:rPr>
              <a:t>"วิเคราะห์ขยะในภาพและจำแนกประเภท"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3557016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  <a:latin typeface="Sarabun"/>
              </a:rPr>
              <a:t>สิ่งที่ต้องทำ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81144"/>
            <a:ext cx="11247120" cy="9326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636007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Format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63600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  <a:latin typeface="Sarabun"/>
              </a:rPr>
              <a:t>"ตอบเป็น bullet point"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4636007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  <a:latin typeface="Sarabun"/>
              </a:rPr>
              <a:t>รูปแบบคำตอบ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60136"/>
            <a:ext cx="11247120" cy="9326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1499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Language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7149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  <a:latin typeface="Sarabun"/>
              </a:rPr>
              <a:t>"ภาษาไทย"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714999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  <a:latin typeface="Sarabun"/>
              </a:rPr>
              <a:t>ภาษาที่ใช้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AI Vision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ข้อมูลไหลอย่างไร จากกล้องถึง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11247120" cy="498348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82495"/>
            <a:ext cx="1097280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  👤 นักเรียน เปิด Web UI (localhost:8000)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  กรอก cam_url + prompt → กด Capture &amp; Analyze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▼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⚙️  FastAPI Backend  (main.py)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├─── GET http://&lt;esp32-ip&gt;/capture  ──► 📷 ESP32-CAM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         (JPEG image, ~10–50 KB)         └── ถ่ายภาพ → ส่งกลับ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├─── image_bytes + prompt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         ▼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    Vision Provider  (VISION_PROVIDER env var)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         ├── mock   → canned response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         ├── gemini → Google AI API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         └── claude → Anthropic API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│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     └── JSON Response  ──► 🌐 Web UI แสดงผล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5352" y="31546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54864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  <a:latin typeface="Sarabun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" y="6236208"/>
            <a:ext cx="5852160" cy="5486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7043"/>
                </a:solidFill>
                <a:latin typeface="Sarabun"/>
              </a:rPr>
              <a:t>Lab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ESP32-CAM Camera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821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  <a:latin typeface="Sarabun"/>
              </a:rPr>
              <a:t>ติดตั้งกล้อง • Flash Firmware • ดู Live Stream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  <a:latin typeface="Sarabun"/>
              </a:rPr>
              <a:t>เวลา: ~60 นาที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Lab 01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สิ่งที่เราจะทำใน Lab นี้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764792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28216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916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ต่อสาย ESP32-CAM กับ ESP32-CAM-MB board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14600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7802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41448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ติดตั้ง Arduino IDE และ ESP32 Board Package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64408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2783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191256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แก้ไข secrets.h ใส่ Wi-Fi SSID และ Password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14215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41063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Flash firmware เข้า ESP32-CAM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764024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2744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690872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ทดสอบ Live Stream และ /capture endpoint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64"/>
                </a:solidFill>
                <a:latin typeface="Sarabun"/>
              </a:rPr>
              <a:t>🎯  เป้าหมาย: กล้อง online และ /capture ส่ง JPEG ได้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1 — Wire ESP32-CAM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ต่อสาย ESP32-CAM + MB 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5943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FF7043"/>
                </a:solidFill>
                <a:latin typeface="Sarabun"/>
              </a:rPr>
              <a:t>⚠️  GPIO0 → GND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D0E4F5"/>
                </a:solidFill>
                <a:latin typeface="Sarabun"/>
              </a:rPr>
              <a:t>ต้องทำก่อน Upload ทุกครั้ง</a:t>
            </a:r>
          </a:p>
          <a:p>
            <a:pPr algn="l">
              <a:spcAft>
                <a:spcPts val="800"/>
              </a:spcAft>
            </a:pPr>
            <a:r>
              <a:rPr sz="800" b="0">
                <a:solidFill>
                  <a:srgbClr val="88A0B8"/>
                </a:solidFill>
                <a:latin typeface="Sarabu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600" b="1">
                <a:solidFill>
                  <a:srgbClr val="D0E4F5"/>
                </a:solidFill>
                <a:latin typeface="Sarabun"/>
              </a:rPr>
              <a:t>หลัง Upload เสร็จ: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C8FF"/>
                </a:solidFill>
                <a:latin typeface="Sarabun"/>
              </a:rPr>
              <a:t>→ ถอด jumper GPIO0 ออก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00C8FF"/>
                </a:solidFill>
                <a:latin typeface="Sarabun"/>
              </a:rPr>
              <a:t>→ กดปุ่ม RST บน MB Board</a:t>
            </a:r>
          </a:p>
          <a:p>
            <a:pPr algn="l">
              <a:spcAft>
                <a:spcPts val="800"/>
              </a:spcAft>
            </a:pPr>
            <a:r>
              <a:rPr sz="800" b="0">
                <a:solidFill>
                  <a:srgbClr val="88A0B8"/>
                </a:solidFill>
                <a:latin typeface="Sarabun"/>
              </a:rPr>
              <a:t/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88A0B8"/>
                </a:solidFill>
                <a:latin typeface="Sarabun"/>
              </a:rPr>
              <a:t>🔌  ESP32-CAM → MB Board → USB → PC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48840"/>
            <a:ext cx="5303520" cy="425196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0005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601675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0B8"/>
                </a:solidFill>
                <a:latin typeface="Sarabun"/>
              </a:rPr>
              <a:t>Wiring Setup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2 — Arduino IDE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ตั้งค่า Arduino IDE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2452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95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1. เปิด Arduino IDE 2.x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2. File → Preferences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→ Additional boards manager URLs: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https://dl.espressif.com/dl/package_esp32_index.json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3. Tools → Board → Boards Manager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→ ค้นหา "esp32" → Install (Espressif Systems)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4. Tools → Board → ESP32 Arduino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→ เลือก "AI Thinker ESP32-CAM"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5. Tools → Port → เลือก COMx (ของ MB Board)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3 — Edit secrets.h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ใส่ Wi-Fi credentials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คัดลอก  secrets.example.h  →  secrets.h  แล้วแก้ไข: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43200"/>
            <a:ext cx="11247120" cy="144475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52928"/>
            <a:ext cx="10972800" cy="1216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// secrets.h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#define WIFI_SSID  "ชื่อ Wi-Fi ของคุณ"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#define WIFI_PASS  "รหัส Wi-Fi ของคุณ"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343400"/>
            <a:ext cx="11430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F7043"/>
                </a:solidFill>
                <a:latin typeface="Sarabun"/>
              </a:rPr>
              <a:t>⚠️  secrets.h อยู่ใน .gitignore — ไม่ถูก commit ขึ้น GitHub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CD964"/>
                </a:solidFill>
                <a:latin typeface="Sarabun"/>
              </a:rPr>
              <a:t>✅  ใช้ 2.4 GHz เท่านั้น (ESP32 ไม่รองรับ 5 GHz)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CD964"/>
                </a:solidFill>
                <a:latin typeface="Sarabun"/>
              </a:rPr>
              <a:t>✅  ตรวจสอบให้ครั้งสุดท้ายก่อน Upload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4 — Flash Firmware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Upload Firmware เข้า ESP32-CAM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6858000" cy="422452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6583680" cy="3995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1. ตรวจสอบ: GPIO0 ต่อลง GND แล้ว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2. กด Upload ใน Arduino IDE (→)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3. รอ "Connecting......____"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→ ถ้าค้าง: ลองกด RST สั้นๆ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4. เห็น "Writing at 0x..." = กำลัง flash ✅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5. เห็น "Hard resetting..." = flash เสร็จ ✅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6. ถอด jumper GPIO0 ออก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7. กด RST อีกครั้ง → ESP32-CAM บูตปกติ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12848"/>
            <a:ext cx="4389120" cy="4224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FF7043"/>
                </a:solidFill>
                <a:latin typeface="Sarabun"/>
              </a:rPr>
              <a:t>ปัญหาที่พบบ่อย: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❌ ค้างที่ Connecting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88A0B8"/>
                </a:solidFill>
                <a:latin typeface="Sarabun"/>
              </a:rPr>
              <a:t>→ GPIO0 ไม่ได้ต่อ GND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❌ Upload failed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88A0B8"/>
                </a:solidFill>
                <a:latin typeface="Sarabun"/>
              </a:rPr>
              <a:t>→ เลือก Port ผิด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❌ ไม่เห็น Port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88A0B8"/>
                </a:solidFill>
                <a:latin typeface="Sarabun"/>
              </a:rPr>
              <a:t>→ ไม่มีไดรเวอร์ CH340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5 — Find IP &amp; Test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หา IP Address และทดสอบ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6858000" cy="2560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658368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# Serial Monitor → Baud Rate: 115200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Connecting to WiFi......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WiFi connected!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IP Address: 192.168.x.x   ← จด IP นี้ไว้!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Camera Ready! Stream: http://192.168.x.x:81/stream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12848"/>
            <a:ext cx="4389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00C8FF"/>
                </a:solidFill>
                <a:latin typeface="Sarabun"/>
              </a:rPr>
              <a:t>ทดสอบใน Browser: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http://&lt;IP&gt;          → Web UI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http://&lt;IP&gt;/capture  → JPEG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D0E4F5"/>
                </a:solidFill>
                <a:latin typeface="Sarabun"/>
              </a:rPr>
              <a:t>http://&lt;IP&gt;:81/stream → 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5604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043"/>
                </a:solidFill>
                <a:latin typeface="Sarabun"/>
              </a:rPr>
              <a:t>📝  จด IP Address ไว้ใช้ใน Lab 02-03-04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Lab 01 — Expected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764792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28216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916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ESP32-CAM เชื่อมต่อ Wi-Fi สำเร็จ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14600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7802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1448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Serial Monitor แสดง IP Address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64408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2783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191256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http://&lt;IP&gt;  เปิดได้ใน Browser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14215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41063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http://&lt;IP&gt;/capture  ส่ง JPEG กลับมา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764024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2744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690872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http://&lt;IP&gt;:81/stream  แสดง Live Video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D964"/>
                </a:solidFill>
                <a:latin typeface="Sarabun"/>
              </a:rPr>
              <a:t>🎉  Lab 01 สำเร็จ! พร้อมสำหรับ Lab 02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5352" y="31546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54864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  <a:latin typeface="Sarabun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" y="6236208"/>
            <a:ext cx="58521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C8FF"/>
                </a:solidFill>
                <a:latin typeface="Sarabun"/>
              </a:rPr>
              <a:t>Lab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REST API &amp;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821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  <a:latin typeface="Sarabun"/>
              </a:rPr>
              <a:t>รัน Backend • ทดสอบ API • Mock Provider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  <a:latin typeface="Sarabun"/>
              </a:rPr>
              <a:t>เวลา: ~60 นาที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Lab 02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สิ่งที่เราจะทำใน Lab นี้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764792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28216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916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สร้าง Python Virtual Environment (.venv)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14600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7802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41448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ติดตั้ง dependencies ด้วย pip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64408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2783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191256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ตั้งค่า .env ไฟล์  (VISION_PROVIDER=mock)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14215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41063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รัน FastAPI server ด้วย uvicorn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764024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2744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690872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ทดสอบ upload รูปและดูผลผ่าน Web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64"/>
                </a:solidFill>
                <a:latin typeface="Sarabun"/>
              </a:rPr>
              <a:t>🎯  เป้าหมาย: เข้าใจ API data flow — ไม่ต้องใช้ API key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1 — Create Virtual Environment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สร้าง Python Virtual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Windows: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560320"/>
            <a:ext cx="5760720" cy="23317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70048"/>
            <a:ext cx="548640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# Windows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cd code\server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python -m venv .venv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.venv\Scripts\activate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เห็น (.venv) หน้า prompt = สำเร็จ 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12848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macOS / Linux: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60320"/>
            <a:ext cx="5577840" cy="23317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670048"/>
            <a:ext cx="53035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# macOS / Linux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cd code/server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python3 -m venv .venv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source .venv/bin/activate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เห็น (.venv) หน้า prompt = สำเร็จ 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474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A0B8"/>
                </a:solidFill>
                <a:latin typeface="Sarabun"/>
              </a:rPr>
              <a:t>💡  Virtual Environment แยก Python packages ของ project ออกจากระบบ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2 — Install Dependencies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ติดตั้ง Python Packages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2452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95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pip install -r requirements.txt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packages: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 fastapi          → web framework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 uvicorn          → ASGI server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 httpx            → fetch รูปจาก ESP32-CAM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 python-dotenv    → อ่านค่าจาก .env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 python-multipart → รับไฟล์ upload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 pillow           → image processing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 google-genai     → Gemini Vision SDK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 anthropic        → Claude Vision SDK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3 — Configure .env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ตั้งค่าไฟล์ 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1284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คัดลอก  .env.example  →  .env  แล้วแก้ไข: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724912"/>
            <a:ext cx="11247120" cy="25603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34640"/>
            <a:ext cx="10972800" cy="2331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# .env  (Lab 02)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VISION_PROVIDER=mock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เติมทีหลังใน Lab 03: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GEMINI_API_KEY=your_key_here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GEMINI_MODEL=gemini-2.5-flash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CAM_URL=http://192.168.x.x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4068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F7043"/>
                </a:solidFill>
                <a:latin typeface="Sarabun"/>
              </a:rPr>
              <a:t>⚠️  .env อยู่ใน .gitignore — ไม่ถูก commit ขึ้น GitHub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4CD964"/>
                </a:solidFill>
                <a:latin typeface="Sarabun"/>
              </a:rPr>
              <a:t>✅  mock provider ไม่ต้องใช้ API key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4 — Run FastAPI Server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รัน Backend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2452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95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# ใน terminal (activate .venv แล้ว)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uvicorn main:app --reload --host 0.0.0.0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INFO:     Uvicorn running on http://0.0.0.0:8000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INFO:     Application startup complete.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เปิดใน Browser: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http://localhost:8000          → Web UI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http://localhost:8000/health   → { "vision_provider": "mock" }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http://localhost:8000/prompts  → preset prompts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Lab 02 — Expected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1764792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28216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6916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pip install สำเร็จ ไม่มี error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2514600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7802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41448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.env ไฟล์สร้างแล้ว  VISION_PROVIDER=mock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264408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2783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191256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uvicorn รันได้ที่  http://localhost:8000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014215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39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41063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Web UI เปิดได้และมี preset prompts dropdown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764024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72744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690872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Upload รูปทดสอบ → ได้รับ mock response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513832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77256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44068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/health แสดง  vision_provider: mock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D964"/>
                </a:solidFill>
                <a:latin typeface="Sarabun"/>
              </a:rPr>
              <a:t>🎉  Lab 02 สำเร็จ! พร้อม connect AI จริงใน Lab 03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5352" y="31546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54864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  <a:latin typeface="Sarabun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" y="6236208"/>
            <a:ext cx="5852160" cy="5486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7043"/>
                </a:solidFill>
                <a:latin typeface="Sarabun"/>
              </a:rPr>
              <a:t>Lab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AI Vision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821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  <a:latin typeface="Sarabun"/>
              </a:rPr>
              <a:t>API Key จริง • ภาพจากกล้อง • Prompt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  <a:latin typeface="Sarabun"/>
              </a:rPr>
              <a:t>เวลา: ~75 นาที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Lab 03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เชื่อม Vision AI จริง กับกล้อง ESP32-CAM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764792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28216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916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สมัครและรับ Gemini API Key จาก Google AI Studio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514600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47802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441448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ตั้งค่า GEMINI_API_KEY และ VISION_PROVIDER=gemini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64408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2783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191256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Restart uvicorn server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014215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77639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941063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ชี้กล้องและกด Capture &amp; Analyze ครั้งแรก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764024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72744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690872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ทดลอง prompt อย่างน้อย 3 แบบ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64"/>
                </a:solidFill>
                <a:latin typeface="Sarabun"/>
              </a:rPr>
              <a:t>🎯  เป้าหมาย: AI จริงวิเคราะห์ภาพจากกล้อง ESP32-CAM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1 — Get Gemini API Key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รับ API Key จาก Google AI Studio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6858000" cy="36576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6583680" cy="3429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1. เปิด Browser → aistudio.google.com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2. Sign in ด้วย Google Account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3. คลิก  "Get API key"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4. คลิก  "Create API key"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5. คัดลอก key (ขึ้นต้นด้วย AIza...)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6. วางใน .env: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   GEMINI_API_KEY=AIzaXXXXXXXXXX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12848"/>
            <a:ext cx="4389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00C8FF"/>
                </a:solidFill>
                <a:latin typeface="Sarabun"/>
              </a:rPr>
              <a:t>Free Tier: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4CD964"/>
                </a:solidFill>
                <a:latin typeface="Sarabun"/>
              </a:rPr>
              <a:t>1,500 req / วัน</a:t>
            </a:r>
          </a:p>
          <a:p>
            <a:pPr algn="l">
              <a:spcAft>
                <a:spcPts val="900"/>
              </a:spcAft>
            </a:pPr>
            <a:r>
              <a:rPr sz="1500" b="0">
                <a:solidFill>
                  <a:srgbClr val="4CD964"/>
                </a:solidFill>
                <a:latin typeface="Sarabun"/>
              </a:rPr>
              <a:t>ไม่ต้องใช้บัตรเครดิต</a:t>
            </a:r>
          </a:p>
          <a:p>
            <a:pPr algn="l">
              <a:spcAft>
                <a:spcPts val="900"/>
              </a:spcAft>
            </a:pPr>
            <a:r>
              <a:rPr sz="800" b="0">
                <a:solidFill>
                  <a:srgbClr val="88A0B8"/>
                </a:solidFill>
                <a:latin typeface="Sarabun"/>
              </a:rPr>
              <a:t/>
            </a:r>
          </a:p>
          <a:p>
            <a:pPr algn="l">
              <a:spcAft>
                <a:spcPts val="900"/>
              </a:spcAft>
            </a:pPr>
            <a:r>
              <a:rPr sz="1500" b="1">
                <a:solidFill>
                  <a:srgbClr val="FF7043"/>
                </a:solidFill>
                <a:latin typeface="Sarabun"/>
              </a:rPr>
              <a:t>⚠️  อย่าแชร์ API key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FF7043"/>
                </a:solidFill>
                <a:latin typeface="Sarabun"/>
              </a:rPr>
              <a:t>อย่า commit ลง GitHub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2 — Update .env &amp; Restart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แก้ .env แล้ว Restart Server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2452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95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# .env  (Lab 03)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VISION_PROVIDER=gemini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GEMINI_API_KEY=AIzaXXXXXXXXXXXXXXXXXX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GEMINI_MODEL=gemini-2.5-flash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CAM_URL=http://192.168.x.x   ← IP จาก Lab 01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Restart: Ctrl+C แล้วรันใหม่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uvicorn main:app --reload --host 0.0.0.0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ตรวจสอบ: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GET /health → { "vision_provider": "gemini" }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3 — First AI Analysis!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วิเคราะห์ภาพครั้งแรกด้วย Gemini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12848"/>
            <a:ext cx="11247120" cy="422452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22576"/>
            <a:ext cx="10972800" cy="3995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1. เปิด http://localhost:8000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2. กรอก ESP32-CAM URL:  http://192.168.x.x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3. เลือก Prompt: "อธิบายสิ่งที่เห็นในภาพนี้"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4. กดปุ่ม  [ Capture &amp; Analyze 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5. รอ 2-5 วินาที...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6. ดูผลลัพธ์ใน Result panel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Error codes: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401 → API key ผิด / ไม่ได้ตั้ง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429 → quota เต็ม → รอ 1 นาที หรือ mock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# 502 → network / camera problem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4 — Prompt Experiments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ทดลอง Prompt อย่างน้อย 3 แบบ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1247120" cy="11887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933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043"/>
                </a:solidFill>
                <a:latin typeface="Sarabun"/>
              </a:rPr>
              <a:t>Prompt A (กว้าง)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957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  <a:latin typeface="Sarabun"/>
              </a:rPr>
              <a:t>"อธิบายสิ่งที่เห็นในภาพนี้"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47120" cy="11887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043"/>
                </a:solidFill>
                <a:latin typeface="Sarabun"/>
              </a:rPr>
              <a:t>Prompt B (เจาะจง)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673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  <a:latin typeface="Sarabun"/>
              </a:rPr>
              <a:t>"นับจำนวนวัตถุแต่ละประเภทในภาพ ตอบเป็น list"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63440"/>
            <a:ext cx="11247120" cy="11887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7365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7043"/>
                </a:solidFill>
                <a:latin typeface="Sarabun"/>
              </a:rPr>
              <a:t>Prompt C (มี Role)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138927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CD964"/>
                </a:solidFill>
                <a:latin typeface="Sarabun"/>
              </a:rPr>
              <a:t>"คุณคือผู้เชี่ยวชาญ วิเคราะห์ภาพและให้คะแนน 1-10"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1447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สังเกต: Prompt ที่ต่างกัน → คำตอบที่ต่างกัน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Lab 03 — Expected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417320"/>
            <a:ext cx="5029200" cy="50749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36804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1081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A0B8"/>
                </a:solidFill>
                <a:latin typeface="Sarabun"/>
              </a:rPr>
              <a:t>AI Vision Demo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1764792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28216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16916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Gemini API Key ตั้งค่าใน .env สำเร็จ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514600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78024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441448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/health แสดง  vision_provider: gemini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3264408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27832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191256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Capture &amp; Analyze ได้ผลจาก Gemini จริง</a:t>
            </a:r>
          </a:p>
        </p:txBody>
      </p:sp>
      <p:sp>
        <p:nvSpPr>
          <p:cNvPr id="20" name="Oval 19"/>
          <p:cNvSpPr/>
          <p:nvPr/>
        </p:nvSpPr>
        <p:spPr>
          <a:xfrm>
            <a:off x="457200" y="4014215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977639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941063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ทดลองอย่างน้อย 3 prompt แตกต่างกัน</a:t>
            </a:r>
          </a:p>
        </p:txBody>
      </p:sp>
      <p:sp>
        <p:nvSpPr>
          <p:cNvPr id="23" name="Oval 22"/>
          <p:cNvSpPr/>
          <p:nvPr/>
        </p:nvSpPr>
        <p:spPr>
          <a:xfrm>
            <a:off x="457200" y="4764024"/>
            <a:ext cx="292608" cy="29260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727448"/>
            <a:ext cx="2926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Sarabun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90872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D0E4F5"/>
                </a:solidFill>
                <a:latin typeface="Sarabun"/>
              </a:rPr>
              <a:t>Prompt ส่งผลต่อความละเอียดของคำตอบ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14476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CD964"/>
                </a:solidFill>
                <a:latin typeface="Sarabun"/>
              </a:rPr>
              <a:t>🎉  Lab 03 สำเร็จ!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5352" y="31546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54864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  <a:latin typeface="Sarabun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" y="6236208"/>
            <a:ext cx="5852160" cy="5486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371600"/>
            <a:ext cx="4937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00C8FF"/>
                </a:solidFill>
                <a:latin typeface="Sarabun"/>
              </a:rPr>
              <a:t>Lab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7744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arabun"/>
              </a:rPr>
              <a:t>AI Vision Mini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18211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  <a:latin typeface="Sarabun"/>
              </a:rPr>
              <a:t>เลือก Project • เขียน Prompt • สร้าง AI ของตัวเอง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  <a:latin typeface="Sarabun"/>
              </a:rPr>
              <a:t>เวลา: ~75 นาที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Lab 04 —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สร้าง AI Vision Project ของตัวเอง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45920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636776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1. เลือกหัวข้อ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020824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เลือก 1 ใน 5 preset หรือคิดขึ้นเอง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06039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596896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2. เขียน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980944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ใช้สูตร Role + Task + Format +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66159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57015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3. ทดสอบ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41063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กด Capture &amp; Analyze ≥ 3 ครั้ง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26279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517136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4. ปรับปรุง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901183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แก้ prompt จนได้ผลที่พอใจ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486399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5477255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5. นำเสนอ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861303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demo + อธิบาย prompt + สิ่งที่เรียนรู้ (2 นาที)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1 — Choose Your Project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เลือกหัวข้อ Mini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128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🗑️  Waste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21284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จำแนกขยะเป็น รีไซเคิล / อินทรีย์ / อันตราย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8950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🌿  Plant Health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889504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ประเมินสุขภาพต้นไม้จากสี ใบ และลักษณะ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661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🔢  Object Counting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566160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นับจำนวนวัตถุแต่ละประเภทในภาพ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🖥️  Desk Cleanliness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242816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ให้คะแนนความสะอาด / เป็นระเบียบของโต๊ะ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194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7043"/>
                </a:solidFill>
                <a:latin typeface="Sarabun"/>
              </a:rPr>
              <a:t>🔧  Equipment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4919472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ตรวจสอบอุปกรณ์ในห้องปฏิบัติการ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1722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C8FF"/>
                </a:solidFill>
                <a:latin typeface="Sarabun"/>
              </a:rPr>
              <a:t>💡  หรือคิดหัวข้อขึ้นเองก็ได้!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Step 2 — Write Your Prompt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444752"/>
            <a:ext cx="676656" cy="676656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44752"/>
            <a:ext cx="676656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Sarabun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81328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Sarabun"/>
              </a:rPr>
              <a:t>เขียน Custom Prompt สำหรับ Project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6858000" cy="41148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350008"/>
            <a:ext cx="6583680" cy="3886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# สูตร: Role + Task + Format + Language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คุณคือ [บทบาทของ AI]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วิเคราะห์ภาพนี้และ[สิ่งที่ต้องทำ]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ตอบในรูปแบบ: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[หัวข้อ 1]: [ค่า]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[หัวข้อ 2]: [ค่า]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สรุป: [ประโยคสรุป]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/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ตอบเป็นภาษาไทย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24028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00C8FF"/>
                </a:solidFill>
                <a:latin typeface="Sarabun"/>
              </a:rPr>
              <a:t>Tips: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D0E4F5"/>
                </a:solidFill>
                <a:latin typeface="Sarabun"/>
              </a:rPr>
              <a:t>• ทดสอบอย่างน้อย 3 ครั้ง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D0E4F5"/>
                </a:solidFill>
                <a:latin typeface="Sarabun"/>
              </a:rPr>
              <a:t>• AI ตอบกว้างเกิน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88A0B8"/>
                </a:solidFill>
                <a:latin typeface="Sarabun"/>
              </a:rPr>
              <a:t>  → เพิ่มรายละเอียดใน Format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D0E4F5"/>
                </a:solidFill>
                <a:latin typeface="Sarabun"/>
              </a:rPr>
              <a:t>• AI ตอบไม่ตรง</a:t>
            </a:r>
          </a:p>
          <a:p>
            <a:pPr algn="l">
              <a:spcAft>
                <a:spcPts val="900"/>
              </a:spcAft>
            </a:pPr>
            <a:r>
              <a:rPr sz="1300" b="0">
                <a:solidFill>
                  <a:srgbClr val="88A0B8"/>
                </a:solidFill>
                <a:latin typeface="Sarabun"/>
              </a:rPr>
              <a:t>  → ปรับ Role ให้ชัดขึ้น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920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arabun"/>
              </a:rPr>
              <a:t>LAB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Presentation Tips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วิธีนำเสนอ Mini Project (2 นาที)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64792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755648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🎯  Demo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139696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ชี้กล้องไปที่วัตถุจริง แล้วกด Capture &amp; Analyze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07791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898648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📝  แสดง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282696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บอกว่าเขียน prompt อะไร และทำไมถึงเลือกแบบนั้น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50791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041648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📊  แสดงผลลัพธ์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425696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AI ตอบอะไร? ตรงกับที่คาดหวังไหม?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93792"/>
            <a:ext cx="45720" cy="77724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184648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Sarabun"/>
              </a:rPr>
              <a:t>💡  สิ่งที่เรียนรู้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68696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ได้เรียนรู้อะไรจาก workshop นี้?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245352" y="0"/>
            <a:ext cx="5943600" cy="6858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45352" y="315468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0"/>
            <a:ext cx="54864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0" b="1" i="0">
                <a:solidFill>
                  <a:srgbClr val="172A3E"/>
                </a:solidFill>
                <a:latin typeface="Sarabun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" y="6236208"/>
            <a:ext cx="5852160" cy="54864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8288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Sarabun"/>
              </a:rPr>
              <a:t>Mini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937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7043"/>
                </a:solidFill>
                <a:latin typeface="Sarabun"/>
              </a:rPr>
              <a:t>ไอเดียโปรเจกต์สำหรับ Lab 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67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  <a:latin typeface="Sarabun"/>
              </a:rPr>
              <a:t>Section 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043"/>
                </a:solidFill>
                <a:latin typeface="Sarabun"/>
              </a:rPr>
              <a:t>🗑️  Waste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จำแนกประเภทขยะ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36576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10512"/>
            <a:ext cx="11247120" cy="23042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0972800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คุณคือระบบ AI จำแนกขยะอัจฉริยะ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วิเคราะห์ขยะในภาพและตอบ: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🗑️ ประเภทขยะ: [ชื่อ]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♻️ หมวดหมู่: รีไซเคิล / อินทรีย์ / ทั่วไป / อันตราย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✅ วิธีทิ้ง: [คำแนะนำ]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ตอบภาษาไทย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24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64"/>
                </a:solidFill>
                <a:latin typeface="Sarabun"/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11247120" cy="193852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00016"/>
            <a:ext cx="10972800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🗑️ ประเภทขยะ: ขวดพลาสติก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♻️ หมวดหมู่: รีไซเคิล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✅ วิธีทิ้ง: ทิ้งในถังขยะสีเหลือง ล้างให้สะอาดก่อนทิ้ง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043"/>
                </a:solidFill>
                <a:latin typeface="Sarabun"/>
              </a:rPr>
              <a:t>🌿  Plant Health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วิเคราะห์สุขภาพต้นไม้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36576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10512"/>
            <a:ext cx="11247120" cy="23042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0972800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คุณคือนักพฤกษศาสตร์ผู้เชี่ยวชาญ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วิเคราะห์ต้นไม้ในภาพและตอบ: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🌿 ชนิด: [ถ้าระบุได้]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💚 สุขภาพ: ดีมาก / ดี / ปานกลาง / ต้องการดูแลด่วน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🔍 สังเกต: [สีใบ, จุด, ใบเหี่ยว]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💧 การรดน้ำ: [แนะนำ]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🌱 คำแนะนำ: [2-3 ข้อ]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24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64"/>
                </a:solidFill>
                <a:latin typeface="Sarabun"/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11247120" cy="193852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00016"/>
            <a:ext cx="10972800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🌿 ชนิด: ต้นมอนสเตอร่า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💚 สุขภาพ: ดี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🔍 สังเกต: ใบสีเขียวเข้ม สมบูรณ์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🌱 คำแนะนำ: วางในที่มีแสงรำไร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043"/>
                </a:solidFill>
                <a:latin typeface="Sarabun"/>
              </a:rPr>
              <a:t>🔢  Object 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นับจำนวนวัตถุ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36576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10512"/>
            <a:ext cx="11247120" cy="23042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0972800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นับและจำแนกวัตถุทุกชิ้นในภาพอย่างละเอียด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ตอบในรูปแบบ: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[ชื่อวัตถุ]: [จำนวน]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รวมทั้งหมด: [จำนวน] ชิ้น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หมายเหตุ: [วัตถุที่มองไม่ชัด]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24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64"/>
                </a:solidFill>
                <a:latin typeface="Sarabun"/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11247120" cy="193852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00016"/>
            <a:ext cx="10972800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โน้ตบุ๊ค: 1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กาแฟ: 1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หนังสือ: 3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ปากกา: 2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รวมทั้งหมด: 7 ชิ้น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043"/>
                </a:solidFill>
                <a:latin typeface="Sarabun"/>
              </a:rPr>
              <a:t>🖥️  Desk Cleanliness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ประเมินความเป็นระเบียบของโต๊ะ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36576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10512"/>
            <a:ext cx="11247120" cy="23042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0972800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คุณคือผู้ตรวจสอบความสะอาด ประเมินโต๊ะนี้: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⭐ คะแนน: [1-5 ดาว]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📦 สิ่งของ: [รายการ]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✅ จุดที่ดี: [สิ่งที่เป็นระเบียบ]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⚠️ ปรับปรุง: [สิ่งที่ควรจัดใหม่]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24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64"/>
                </a:solidFill>
                <a:latin typeface="Sarabun"/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11247120" cy="193852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00016"/>
            <a:ext cx="10972800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⭐ คะแนน: 4 ดาว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📦 สิ่งของ: โน้ตบุ๊ค, เมาส์, แก้วน้ำ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✅ จุดที่ดี: จัดสายไฟเป็นระเบียบ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⚠️ ปรับปรุง: มีเศษกระดาษบนโต๊ะ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043"/>
                </a:solidFill>
                <a:latin typeface="Sarabun"/>
              </a:rPr>
              <a:t>🔧  Equipment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0467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D0E4F5"/>
                </a:solidFill>
                <a:latin typeface="Sarabun"/>
              </a:rPr>
              <a:t>ตรวจสอบอุปกรณ์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98448"/>
            <a:ext cx="11247120" cy="36576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447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8FF"/>
                </a:solidFill>
                <a:latin typeface="Sarabun"/>
              </a:rPr>
              <a:t>Prompt: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10512"/>
            <a:ext cx="11247120" cy="230428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20240"/>
            <a:ext cx="10972800" cy="20756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คุณคือระบบตรวจสอบอุปกรณ์ห้องปฏิบัติการ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วิเคราะห์ภาพและระบุ: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🔧 อุปกรณ์ที่พบ: [รายการ]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✅ พร้อมใช้งาน: [รายการ]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⚠️ ต้องตรวจสอบ: [รายการ]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สรุป: [1 ประโยค]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2452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D964"/>
                </a:solidFill>
                <a:latin typeface="Sarabun"/>
              </a:rPr>
              <a:t>Expected Output: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590288"/>
            <a:ext cx="11247120" cy="1938528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4700016"/>
            <a:ext cx="10972800" cy="1709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4CD964"/>
                </a:solidFill>
                <a:latin typeface="Consolas"/>
              </a:rPr>
              <a:t>🔧 พบ: ESP32-CAM, สาย USB, breadboard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✅ พร้อม: ESP32-CAM, สาย USB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⚠️ ตรวจสอบ: breadboard (มีออกซิไดซ์)</a:t>
            </a:r>
          </a:p>
          <a:p>
            <a:r>
              <a:rPr sz="1400">
                <a:solidFill>
                  <a:srgbClr val="4CD964"/>
                </a:solidFill>
                <a:latin typeface="Consolas"/>
              </a:rPr>
              <a:t>สรุป: อุปกรณ์ส่วนใหญ่พร้อมใช้งาน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Future Career Paths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เส้นทางอาชีพที่เกี่ยวข้อง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72768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🤖  AI Engineer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03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  <a:latin typeface="Sarabun"/>
              </a:rPr>
              <a:t>พัฒนาโมเดล AI, fine-tuning, deployment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572768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64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📡  IoT Developer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1031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  <a:latin typeface="Sarabun"/>
              </a:rPr>
              <a:t>ออกแบบระบบเซนเซอร์, firmware, cloud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54096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455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📊  Data Scientist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  <a:latin typeface="Sarabun"/>
              </a:rPr>
              <a:t>วิเคราะห์ข้อมูล, ML models, visualization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3054096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14553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🤖  Robotics Engineer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584448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  <a:latin typeface="Sarabun"/>
              </a:rPr>
              <a:t>หุ่นยนต์ที่ใช้ computer vision นำทาง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535424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6268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🛡️  AI Safety Researcher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06577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  <a:latin typeface="Sarabun"/>
              </a:rPr>
              <a:t>ความปลอดภัยและจริยธรรมของ 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4535424"/>
            <a:ext cx="5760720" cy="1261872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626864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FF"/>
                </a:solidFill>
                <a:latin typeface="Sarabun"/>
              </a:rPr>
              <a:t>🚀  AI Product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065776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  <a:latin typeface="Sarabun"/>
              </a:rPr>
              <a:t>นำทีมสร้าง product ที่ขับเคลื่อนด้วย AI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Additional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แหล่งเรียนรู้เพิ่มเติม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18488"/>
            <a:ext cx="45720" cy="7772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09344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7043"/>
                </a:solidFill>
                <a:latin typeface="Sarabun"/>
              </a:rPr>
              <a:t>📖  Workshop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993392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github.com/Pachara966/esp32cam-ai-vision-workshop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87168"/>
            <a:ext cx="45720" cy="7772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478024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7043"/>
                </a:solidFill>
                <a:latin typeface="Sarabun"/>
              </a:rPr>
              <a:t>🤖  Google AI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862072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aistudio.google.com  (Gemini API Key)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55848"/>
            <a:ext cx="45720" cy="7772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346704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7043"/>
                </a:solidFill>
                <a:latin typeface="Sarabun"/>
              </a:rPr>
              <a:t>🧠  Anthropic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730752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console.anthropic.com  (Claude API Key)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224528"/>
            <a:ext cx="45720" cy="7772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215384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7043"/>
                </a:solidFill>
                <a:latin typeface="Sarabun"/>
              </a:rPr>
              <a:t>📚  FastAPI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4599432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fastapi.tiangolo.com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93208"/>
            <a:ext cx="45720" cy="7772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5084064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7043"/>
                </a:solidFill>
                <a:latin typeface="Sarabun"/>
              </a:rPr>
              <a:t>📷  ESP32 Arduino Docs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468112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docs.espressif.com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961888"/>
            <a:ext cx="45720" cy="77724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952744"/>
            <a:ext cx="11045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7043"/>
                </a:solidFill>
                <a:latin typeface="Sarabun"/>
              </a:rPr>
              <a:t>🎓  Google ML Crash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36792"/>
            <a:ext cx="11045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0E4F5"/>
                </a:solidFill>
                <a:latin typeface="Sarabun"/>
              </a:rPr>
              <a:t>developers.google.com/machine-learning/crash-course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Sarabun"/>
              </a:rPr>
              <a:t>Workshop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78992"/>
            <a:ext cx="2286000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112471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88A0B8"/>
                </a:solidFill>
                <a:latin typeface="Sarabun"/>
              </a:rPr>
              <a:t>สรุป Workshop วันนี้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11247120" cy="9601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1371600" cy="9601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47088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arabun"/>
              </a:rPr>
              <a:t>Lab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865376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ติดตั้ง ESP32-CAM + Flash Firmware + Live Stream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79776"/>
            <a:ext cx="11247120" cy="9601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79776"/>
            <a:ext cx="1371600" cy="9601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62656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arabun"/>
              </a:rPr>
              <a:t>Lab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980944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รัน FastAPI Backend + ทำความเข้าใจ REST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95344"/>
            <a:ext cx="11247120" cy="9601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95344"/>
            <a:ext cx="1371600" cy="960120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78224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arabun"/>
              </a:rPr>
              <a:t>Lab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096511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เชื่อม Gemini Vision + Prompt Engineering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010912"/>
            <a:ext cx="11247120" cy="96012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010912"/>
            <a:ext cx="1371600" cy="960120"/>
          </a:xfrm>
          <a:prstGeom prst="rect">
            <a:avLst/>
          </a:prstGeom>
          <a:solidFill>
            <a:srgbClr val="4CD9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9379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Sarabun"/>
              </a:rPr>
              <a:t>Lab 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212079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0E4F5"/>
                </a:solidFill>
                <a:latin typeface="Sarabun"/>
              </a:rPr>
              <a:t>สร้าง AI Vision Mini Project ของตัวเอง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053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CD964"/>
                </a:solidFill>
                <a:latin typeface="Sarabun"/>
              </a:rPr>
              <a:t>🎉  ภายใน 1 วัน นักเรียนสร้างระบบ AI Vision ที่ใช้งานได้จริง!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75704"/>
            <a:ext cx="12188952" cy="8229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457200"/>
            <a:ext cx="76169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0" b="1" i="0">
                <a:solidFill>
                  <a:srgbClr val="172A3E"/>
                </a:solidFill>
                <a:latin typeface="Sarabun"/>
              </a:rPr>
              <a:t>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0" b="1" i="0">
                <a:solidFill>
                  <a:srgbClr val="FFFFFF"/>
                </a:solidFill>
                <a:latin typeface="Sarabun"/>
              </a:rPr>
              <a:t>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C8FF"/>
                </a:solidFill>
                <a:latin typeface="Sarabun"/>
              </a:rPr>
              <a:t>ถามได้เลยครับ / Feel free to ask!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0A131E"/>
          </a:solidFill>
          <a:ln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3154680"/>
            <a:ext cx="6245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172A3E"/>
                </a:solidFill>
                <a:latin typeface="Sarabun"/>
              </a:rPr>
              <a:t>📷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0"/>
            <a:ext cx="54864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7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09728"/>
            <a:ext cx="91440" cy="6638544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14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Sarabun"/>
              </a:rPr>
              <a:t>ขอบคุณทุกคน!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00C8FF"/>
                </a:solidFill>
                <a:latin typeface="Sarabun"/>
              </a:rPr>
              <a:t>Thank You!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4114800" cy="45720"/>
          </a:xfrm>
          <a:prstGeom prst="rect">
            <a:avLst/>
          </a:prstGeom>
          <a:solidFill>
            <a:srgbClr val="88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944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D0E4F5"/>
                </a:solidFill>
                <a:latin typeface="Sarabun"/>
              </a:rPr>
              <a:t>มหาวิทยาลัยเทคโนโลยีราชมงคลธัญบุรี (RMUTT)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56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A0B8"/>
                </a:solidFill>
                <a:latin typeface="Sarabun"/>
              </a:rPr>
              <a:t>[ชื่อผู้สอน / Instructor Name]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245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C8FF"/>
                </a:solidFill>
                <a:latin typeface="Sarabun"/>
              </a:rPr>
              <a:t>github.com/Pachara966/esp32cam-ai-vision-workshop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8172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7043"/>
                </a:solidFill>
                <a:latin typeface="Sarabun"/>
              </a:rPr>
              <a:t>#ESP32CAM_AI_RMUTT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98932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0B8"/>
                </a:solidFill>
                <a:latin typeface="Sarabun"/>
              </a:rPr>
              <a:t>ESP32-CAM AI Vision Workshop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